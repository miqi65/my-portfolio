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1a4398f954937" /><Relationship Type="http://schemas.openxmlformats.org/officeDocument/2006/relationships/extended-properties" Target="/docProps/app.xml" Id="R67d8961d06f54d1b" /><Relationship Type="http://schemas.openxmlformats.org/officeDocument/2006/relationships/officeDocument" Target="/ppt/presentation.xml" Id="Rac6b2e3668564f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00754975c462f"/>
  </p:sldMasterIdLst>
  <p:notesMasterIdLst>
    <p:notesMasterId xmlns:r="http://schemas.openxmlformats.org/officeDocument/2006/relationships" r:id="R158a00c92856495d"/>
  </p:notesMasterIdLst>
  <p:sldIdLst>
    <p:sldId xmlns:r="http://schemas.openxmlformats.org/officeDocument/2006/relationships" id="256" r:id="R2efa3592717e4d20"/>
    <p:sldId xmlns:r="http://schemas.openxmlformats.org/officeDocument/2006/relationships" id="257" r:id="R712ae42f366e46f0"/>
    <p:sldId xmlns:r="http://schemas.openxmlformats.org/officeDocument/2006/relationships" id="258" r:id="R543085b1a95b4dab"/>
    <p:sldId xmlns:r="http://schemas.openxmlformats.org/officeDocument/2006/relationships" id="259" r:id="R45e101ada2ba4e06"/>
    <p:sldId xmlns:r="http://schemas.openxmlformats.org/officeDocument/2006/relationships" id="260" r:id="Rd5675bb72f2e4fd9"/>
    <p:sldId xmlns:r="http://schemas.openxmlformats.org/officeDocument/2006/relationships" id="261" r:id="R52a74fff6da44c90"/>
    <p:sldId xmlns:r="http://schemas.openxmlformats.org/officeDocument/2006/relationships" id="262" r:id="R312703ba3d45443e"/>
    <p:sldId xmlns:r="http://schemas.openxmlformats.org/officeDocument/2006/relationships" id="263" r:id="Re9a90e350ed84865"/>
    <p:sldId xmlns:r="http://schemas.openxmlformats.org/officeDocument/2006/relationships" id="264" r:id="Rdc3a743d23304827"/>
    <p:sldId xmlns:r="http://schemas.openxmlformats.org/officeDocument/2006/relationships" id="265" r:id="R72c07cbe49e84c8c"/>
    <p:sldId xmlns:r="http://schemas.openxmlformats.org/officeDocument/2006/relationships" id="266" r:id="R6116a90e08e240a9"/>
    <p:sldId xmlns:r="http://schemas.openxmlformats.org/officeDocument/2006/relationships" id="267" r:id="R23e2b679228a4c2d"/>
    <p:sldId xmlns:r="http://schemas.openxmlformats.org/officeDocument/2006/relationships" id="268" r:id="R9780aa1e934042d5"/>
    <p:sldId xmlns:r="http://schemas.openxmlformats.org/officeDocument/2006/relationships" id="269" r:id="R1e258db37e3248e9"/>
    <p:sldId xmlns:r="http://schemas.openxmlformats.org/officeDocument/2006/relationships" id="270" r:id="R8efa053dcce94e7b"/>
    <p:sldId xmlns:r="http://schemas.openxmlformats.org/officeDocument/2006/relationships" id="271" r:id="R2c7a04246c094a25"/>
    <p:sldId xmlns:r="http://schemas.openxmlformats.org/officeDocument/2006/relationships" id="272" r:id="R88adda347ef446ce"/>
    <p:sldId xmlns:r="http://schemas.openxmlformats.org/officeDocument/2006/relationships" id="273" r:id="R120a0e1b085b4b23"/>
    <p:sldId xmlns:r="http://schemas.openxmlformats.org/officeDocument/2006/relationships" id="274" r:id="R2d73885a9cb64fc2"/>
    <p:sldId xmlns:r="http://schemas.openxmlformats.org/officeDocument/2006/relationships" id="275" r:id="Re84b01f9fa7e4b7f"/>
    <p:sldId xmlns:r="http://schemas.openxmlformats.org/officeDocument/2006/relationships" id="276" r:id="R90eed99d81514071"/>
    <p:sldId xmlns:r="http://schemas.openxmlformats.org/officeDocument/2006/relationships" id="277" r:id="R5392f1678d994cfa"/>
    <p:sldId xmlns:r="http://schemas.openxmlformats.org/officeDocument/2006/relationships" id="278" r:id="R97627028f2f347ec"/>
    <p:sldId xmlns:r="http://schemas.openxmlformats.org/officeDocument/2006/relationships" id="279" r:id="R0808dd4dd1e24398"/>
    <p:sldId xmlns:r="http://schemas.openxmlformats.org/officeDocument/2006/relationships" id="280" r:id="R22fdac796f64469c"/>
    <p:sldId xmlns:r="http://schemas.openxmlformats.org/officeDocument/2006/relationships" id="281" r:id="Rb68152f623f84e00"/>
    <p:sldId xmlns:r="http://schemas.openxmlformats.org/officeDocument/2006/relationships" id="282" r:id="Rffd80559577e40c0"/>
    <p:sldId xmlns:r="http://schemas.openxmlformats.org/officeDocument/2006/relationships" id="283" r:id="R8f2345a5716345c6"/>
    <p:sldId xmlns:r="http://schemas.openxmlformats.org/officeDocument/2006/relationships" id="284" r:id="R362e485bdec24754"/>
    <p:sldId xmlns:r="http://schemas.openxmlformats.org/officeDocument/2006/relationships" id="285" r:id="R7d1eba008bec4a54"/>
    <p:sldId xmlns:r="http://schemas.openxmlformats.org/officeDocument/2006/relationships" id="286" r:id="R31ba34e603e14e1d"/>
    <p:sldId xmlns:r="http://schemas.openxmlformats.org/officeDocument/2006/relationships" id="287" r:id="Ra7067dc66cbd4fd4"/>
    <p:sldId xmlns:r="http://schemas.openxmlformats.org/officeDocument/2006/relationships" id="288" r:id="Rd9e677ef11254188"/>
    <p:sldId xmlns:r="http://schemas.openxmlformats.org/officeDocument/2006/relationships" id="289" r:id="R2e01711172544d14"/>
    <p:sldId xmlns:r="http://schemas.openxmlformats.org/officeDocument/2006/relationships" id="290" r:id="Re2d04f44496b41e2"/>
    <p:sldId xmlns:r="http://schemas.openxmlformats.org/officeDocument/2006/relationships" id="291" r:id="Rb431d3fbac484650"/>
    <p:sldId xmlns:r="http://schemas.openxmlformats.org/officeDocument/2006/relationships" id="292" r:id="R28a8d2f56afc4b22"/>
    <p:sldId xmlns:r="http://schemas.openxmlformats.org/officeDocument/2006/relationships" id="293" r:id="R7f486b2469fe477c"/>
    <p:sldId xmlns:r="http://schemas.openxmlformats.org/officeDocument/2006/relationships" id="294" r:id="Rdfb5c3dc56f94ed6"/>
    <p:sldId xmlns:r="http://schemas.openxmlformats.org/officeDocument/2006/relationships" id="295" r:id="R575ba727baa44ef0"/>
    <p:sldId xmlns:r="http://schemas.openxmlformats.org/officeDocument/2006/relationships" id="296" r:id="R977fccfeaa164d60"/>
    <p:sldId xmlns:r="http://schemas.openxmlformats.org/officeDocument/2006/relationships" id="297" r:id="R2ab4a3d75de546a5"/>
    <p:sldId xmlns:r="http://schemas.openxmlformats.org/officeDocument/2006/relationships" id="298" r:id="R0faeb2f042334f81"/>
    <p:sldId xmlns:r="http://schemas.openxmlformats.org/officeDocument/2006/relationships" id="299" r:id="R5280cd4e5bf24083"/>
    <p:sldId xmlns:r="http://schemas.openxmlformats.org/officeDocument/2006/relationships" id="300" r:id="R5a47a87dd8064b48"/>
    <p:sldId xmlns:r="http://schemas.openxmlformats.org/officeDocument/2006/relationships" id="301" r:id="Rebfb1011d2f448fb"/>
    <p:sldId xmlns:r="http://schemas.openxmlformats.org/officeDocument/2006/relationships" id="302" r:id="R2edd13ac65b540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eabcc594424e3e" /><Relationship Type="http://schemas.openxmlformats.org/officeDocument/2006/relationships/slideMaster" Target="/ppt/slideMasters/slideMaster1.xml" Id="Ra8300754975c462f" /><Relationship Type="http://schemas.openxmlformats.org/officeDocument/2006/relationships/notesMaster" Target="/ppt/notesMasters/notesMaster1.xml" Id="R158a00c92856495d" /><Relationship Type="http://schemas.openxmlformats.org/officeDocument/2006/relationships/presProps" Target="/ppt/presProps.xml" Id="R45d61f3b2c2d465d" /><Relationship Type="http://schemas.openxmlformats.org/officeDocument/2006/relationships/tableStyles" Target="/ppt/tableStyles.xml" Id="Raec34f78ee214ace" /><Relationship Type="http://schemas.openxmlformats.org/officeDocument/2006/relationships/slide" Target="/ppt/slides/slide1.xml" Id="R2efa3592717e4d20" /><Relationship Type="http://schemas.openxmlformats.org/officeDocument/2006/relationships/slide" Target="/ppt/slides/slide2.xml" Id="R712ae42f366e46f0" /><Relationship Type="http://schemas.openxmlformats.org/officeDocument/2006/relationships/slide" Target="/ppt/slides/slide3.xml" Id="R543085b1a95b4dab" /><Relationship Type="http://schemas.openxmlformats.org/officeDocument/2006/relationships/slide" Target="/ppt/slides/slide4.xml" Id="R45e101ada2ba4e06" /><Relationship Type="http://schemas.openxmlformats.org/officeDocument/2006/relationships/slide" Target="/ppt/slides/slide5.xml" Id="Rd5675bb72f2e4fd9" /><Relationship Type="http://schemas.openxmlformats.org/officeDocument/2006/relationships/slide" Target="/ppt/slides/slide6.xml" Id="R52a74fff6da44c90" /><Relationship Type="http://schemas.openxmlformats.org/officeDocument/2006/relationships/slide" Target="/ppt/slides/slide7.xml" Id="R312703ba3d45443e" /><Relationship Type="http://schemas.openxmlformats.org/officeDocument/2006/relationships/slide" Target="/ppt/slides/slide8.xml" Id="Re9a90e350ed84865" /><Relationship Type="http://schemas.openxmlformats.org/officeDocument/2006/relationships/slide" Target="/ppt/slides/slide9.xml" Id="Rdc3a743d23304827" /><Relationship Type="http://schemas.openxmlformats.org/officeDocument/2006/relationships/slide" Target="/ppt/slides/slide10.xml" Id="R72c07cbe49e84c8c" /><Relationship Type="http://schemas.openxmlformats.org/officeDocument/2006/relationships/slide" Target="/ppt/slides/slide11.xml" Id="R6116a90e08e240a9" /><Relationship Type="http://schemas.openxmlformats.org/officeDocument/2006/relationships/slide" Target="/ppt/slides/slide12.xml" Id="R23e2b679228a4c2d" /><Relationship Type="http://schemas.openxmlformats.org/officeDocument/2006/relationships/slide" Target="/ppt/slides/slide13.xml" Id="R9780aa1e934042d5" /><Relationship Type="http://schemas.openxmlformats.org/officeDocument/2006/relationships/slide" Target="/ppt/slides/slide14.xml" Id="R1e258db37e3248e9" /><Relationship Type="http://schemas.openxmlformats.org/officeDocument/2006/relationships/slide" Target="/ppt/slides/slide15.xml" Id="R8efa053dcce94e7b" /><Relationship Type="http://schemas.openxmlformats.org/officeDocument/2006/relationships/slide" Target="/ppt/slides/slide16.xml" Id="R2c7a04246c094a25" /><Relationship Type="http://schemas.openxmlformats.org/officeDocument/2006/relationships/slide" Target="/ppt/slides/slide17.xml" Id="R88adda347ef446ce" /><Relationship Type="http://schemas.openxmlformats.org/officeDocument/2006/relationships/slide" Target="/ppt/slides/slide18.xml" Id="R120a0e1b085b4b23" /><Relationship Type="http://schemas.openxmlformats.org/officeDocument/2006/relationships/slide" Target="/ppt/slides/slide19.xml" Id="R2d73885a9cb64fc2" /><Relationship Type="http://schemas.openxmlformats.org/officeDocument/2006/relationships/slide" Target="/ppt/slides/slide20.xml" Id="Re84b01f9fa7e4b7f" /><Relationship Type="http://schemas.openxmlformats.org/officeDocument/2006/relationships/slide" Target="/ppt/slides/slide21.xml" Id="R90eed99d81514071" /><Relationship Type="http://schemas.openxmlformats.org/officeDocument/2006/relationships/slide" Target="/ppt/slides/slide22.xml" Id="R5392f1678d994cfa" /><Relationship Type="http://schemas.openxmlformats.org/officeDocument/2006/relationships/slide" Target="/ppt/slides/slide23.xml" Id="R97627028f2f347ec" /><Relationship Type="http://schemas.openxmlformats.org/officeDocument/2006/relationships/slide" Target="/ppt/slides/slide24.xml" Id="R0808dd4dd1e24398" /><Relationship Type="http://schemas.openxmlformats.org/officeDocument/2006/relationships/slide" Target="/ppt/slides/slide25.xml" Id="R22fdac796f64469c" /><Relationship Type="http://schemas.openxmlformats.org/officeDocument/2006/relationships/slide" Target="/ppt/slides/slide26.xml" Id="Rb68152f623f84e00" /><Relationship Type="http://schemas.openxmlformats.org/officeDocument/2006/relationships/slide" Target="/ppt/slides/slide27.xml" Id="Rffd80559577e40c0" /><Relationship Type="http://schemas.openxmlformats.org/officeDocument/2006/relationships/slide" Target="/ppt/slides/slide28.xml" Id="R8f2345a5716345c6" /><Relationship Type="http://schemas.openxmlformats.org/officeDocument/2006/relationships/slide" Target="/ppt/slides/slide29.xml" Id="R362e485bdec24754" /><Relationship Type="http://schemas.openxmlformats.org/officeDocument/2006/relationships/slide" Target="/ppt/slides/slide30.xml" Id="R7d1eba008bec4a54" /><Relationship Type="http://schemas.openxmlformats.org/officeDocument/2006/relationships/slide" Target="/ppt/slides/slide31.xml" Id="R31ba34e603e14e1d" /><Relationship Type="http://schemas.openxmlformats.org/officeDocument/2006/relationships/slide" Target="/ppt/slides/slide32.xml" Id="Ra7067dc66cbd4fd4" /><Relationship Type="http://schemas.openxmlformats.org/officeDocument/2006/relationships/slide" Target="/ppt/slides/slide33.xml" Id="Rd9e677ef11254188" /><Relationship Type="http://schemas.openxmlformats.org/officeDocument/2006/relationships/slide" Target="/ppt/slides/slide34.xml" Id="R2e01711172544d14" /><Relationship Type="http://schemas.openxmlformats.org/officeDocument/2006/relationships/slide" Target="/ppt/slides/slide35.xml" Id="Re2d04f44496b41e2" /><Relationship Type="http://schemas.openxmlformats.org/officeDocument/2006/relationships/slide" Target="/ppt/slides/slide36.xml" Id="Rb431d3fbac484650" /><Relationship Type="http://schemas.openxmlformats.org/officeDocument/2006/relationships/slide" Target="/ppt/slides/slide37.xml" Id="R28a8d2f56afc4b22" /><Relationship Type="http://schemas.openxmlformats.org/officeDocument/2006/relationships/slide" Target="/ppt/slides/slide38.xml" Id="R7f486b2469fe477c" /><Relationship Type="http://schemas.openxmlformats.org/officeDocument/2006/relationships/slide" Target="/ppt/slides/slide39.xml" Id="Rdfb5c3dc56f94ed6" /><Relationship Type="http://schemas.openxmlformats.org/officeDocument/2006/relationships/slide" Target="/ppt/slides/slide40.xml" Id="R575ba727baa44ef0" /><Relationship Type="http://schemas.openxmlformats.org/officeDocument/2006/relationships/slide" Target="/ppt/slides/slide41.xml" Id="R977fccfeaa164d60" /><Relationship Type="http://schemas.openxmlformats.org/officeDocument/2006/relationships/slide" Target="/ppt/slides/slide42.xml" Id="R2ab4a3d75de546a5" /><Relationship Type="http://schemas.openxmlformats.org/officeDocument/2006/relationships/slide" Target="/ppt/slides/slide43.xml" Id="R0faeb2f042334f81" /><Relationship Type="http://schemas.openxmlformats.org/officeDocument/2006/relationships/slide" Target="/ppt/slides/slide44.xml" Id="R5280cd4e5bf24083" /><Relationship Type="http://schemas.openxmlformats.org/officeDocument/2006/relationships/slide" Target="/ppt/slides/slide45.xml" Id="R5a47a87dd8064b48" /><Relationship Type="http://schemas.openxmlformats.org/officeDocument/2006/relationships/slide" Target="/ppt/slides/slide46.xml" Id="Rebfb1011d2f448fb" /><Relationship Type="http://schemas.openxmlformats.org/officeDocument/2006/relationships/slide" Target="/ppt/slides/slide47.xml" Id="R2edd13ac65b540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f2bc80d3d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9f8e520ec4dfa" /><Relationship Type="http://schemas.openxmlformats.org/officeDocument/2006/relationships/notesMaster" Target="/ppt/notesMasters/notesMaster1.xml" Id="Re349bbe2da31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04d3d795d4693" /><Relationship Type="http://schemas.openxmlformats.org/officeDocument/2006/relationships/notesMaster" Target="/ppt/notesMasters/notesMaster1.xml" Id="Rc00aaf5fa066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5b5ce9f834a01" /><Relationship Type="http://schemas.openxmlformats.org/officeDocument/2006/relationships/notesMaster" Target="/ppt/notesMasters/notesMaster1.xml" Id="R827acc3022e5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e4930177f426c" /><Relationship Type="http://schemas.openxmlformats.org/officeDocument/2006/relationships/notesMaster" Target="/ppt/notesMasters/notesMaster1.xml" Id="Raabab81b3224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7ee1988024a4b" /><Relationship Type="http://schemas.openxmlformats.org/officeDocument/2006/relationships/notesMaster" Target="/ppt/notesMasters/notesMaster1.xml" Id="Rc61ac16c01e1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ab67875d794bcb" /><Relationship Type="http://schemas.openxmlformats.org/officeDocument/2006/relationships/notesMaster" Target="/ppt/notesMasters/notesMaster1.xml" Id="R6915ed56a1ce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2f0208c114346" /><Relationship Type="http://schemas.openxmlformats.org/officeDocument/2006/relationships/notesMaster" Target="/ppt/notesMasters/notesMaster1.xml" Id="R01870dfc893c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439d559114307" /><Relationship Type="http://schemas.openxmlformats.org/officeDocument/2006/relationships/notesMaster" Target="/ppt/notesMasters/notesMaster1.xml" Id="Rc875bf2bb188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67cca5f6494778" /><Relationship Type="http://schemas.openxmlformats.org/officeDocument/2006/relationships/notesMaster" Target="/ppt/notesMasters/notesMaster1.xml" Id="Rb78be99ec56344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05ab933a4ca2" /><Relationship Type="http://schemas.openxmlformats.org/officeDocument/2006/relationships/notesMaster" Target="/ppt/notesMasters/notesMaster1.xml" Id="R8d3d18eac3c348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5dc763c5d64676" /><Relationship Type="http://schemas.openxmlformats.org/officeDocument/2006/relationships/notesMaster" Target="/ppt/notesMasters/notesMaster1.xml" Id="R75e5f6bcb81f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dd2b0f55084a1f" /><Relationship Type="http://schemas.openxmlformats.org/officeDocument/2006/relationships/notesMaster" Target="/ppt/notesMasters/notesMaster1.xml" Id="R73749387552646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16359a2b0b4bfd" /><Relationship Type="http://schemas.openxmlformats.org/officeDocument/2006/relationships/notesMaster" Target="/ppt/notesMasters/notesMaster1.xml" Id="R6ff10465f7d242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dbe4d23fac4764" /><Relationship Type="http://schemas.openxmlformats.org/officeDocument/2006/relationships/notesMaster" Target="/ppt/notesMasters/notesMaster1.xml" Id="R439596812f5346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334158f44a4d0b" /><Relationship Type="http://schemas.openxmlformats.org/officeDocument/2006/relationships/notesMaster" Target="/ppt/notesMasters/notesMaster1.xml" Id="R2f33a5bfcd0040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387b2a004f4126" /><Relationship Type="http://schemas.openxmlformats.org/officeDocument/2006/relationships/notesMaster" Target="/ppt/notesMasters/notesMaster1.xml" Id="R9023f215c30248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c255fc56f44c66" /><Relationship Type="http://schemas.openxmlformats.org/officeDocument/2006/relationships/notesMaster" Target="/ppt/notesMasters/notesMaster1.xml" Id="R7fde2e3b802841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3bdae5105a414b" /><Relationship Type="http://schemas.openxmlformats.org/officeDocument/2006/relationships/notesMaster" Target="/ppt/notesMasters/notesMaster1.xml" Id="R4bc89ccab9c246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db1eed480c4237" /><Relationship Type="http://schemas.openxmlformats.org/officeDocument/2006/relationships/notesMaster" Target="/ppt/notesMasters/notesMaster1.xml" Id="R83dd9591a7a747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b07eba637842e1" /><Relationship Type="http://schemas.openxmlformats.org/officeDocument/2006/relationships/notesMaster" Target="/ppt/notesMasters/notesMaster1.xml" Id="Re18a7b4e91214d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8669042b7c4f60" /><Relationship Type="http://schemas.openxmlformats.org/officeDocument/2006/relationships/notesMaster" Target="/ppt/notesMasters/notesMaster1.xml" Id="R57eb1712883d43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06d377c7084876" /><Relationship Type="http://schemas.openxmlformats.org/officeDocument/2006/relationships/notesMaster" Target="/ppt/notesMasters/notesMaster1.xml" Id="R3646ddc25cb34c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9d6764eff84f38" /><Relationship Type="http://schemas.openxmlformats.org/officeDocument/2006/relationships/notesMaster" Target="/ppt/notesMasters/notesMaster1.xml" Id="Reece0fbafb8c44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2865df36804122" /><Relationship Type="http://schemas.openxmlformats.org/officeDocument/2006/relationships/notesMaster" Target="/ppt/notesMasters/notesMaster1.xml" Id="Rf535a875ea4d4e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44ea198ed847ec" /><Relationship Type="http://schemas.openxmlformats.org/officeDocument/2006/relationships/notesMaster" Target="/ppt/notesMasters/notesMaster1.xml" Id="Rb916ef762cf84d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ec02dbdd91d4b45" /><Relationship Type="http://schemas.openxmlformats.org/officeDocument/2006/relationships/notesMaster" Target="/ppt/notesMasters/notesMaster1.xml" Id="Rf8525b24cb0c49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340545e5aa47dc" /><Relationship Type="http://schemas.openxmlformats.org/officeDocument/2006/relationships/notesMaster" Target="/ppt/notesMasters/notesMaster1.xml" Id="Rad3ef2ff77b740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da80e99e364601" /><Relationship Type="http://schemas.openxmlformats.org/officeDocument/2006/relationships/notesMaster" Target="/ppt/notesMasters/notesMaster1.xml" Id="Rf22b3b75046142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f24de65a0d47a5" /><Relationship Type="http://schemas.openxmlformats.org/officeDocument/2006/relationships/notesMaster" Target="/ppt/notesMasters/notesMaster1.xml" Id="R20745f28341240d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6aa6b6b7460423c" /><Relationship Type="http://schemas.openxmlformats.org/officeDocument/2006/relationships/notesMaster" Target="/ppt/notesMasters/notesMaster1.xml" Id="R7ac3b2f2719e405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febbf925b6943e6" /><Relationship Type="http://schemas.openxmlformats.org/officeDocument/2006/relationships/notesMaster" Target="/ppt/notesMasters/notesMaster1.xml" Id="R32a18446825248b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80a44365f04845" /><Relationship Type="http://schemas.openxmlformats.org/officeDocument/2006/relationships/notesMaster" Target="/ppt/notesMasters/notesMaster1.xml" Id="Ra22f59dece7947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6b40eddc41a41d2" /><Relationship Type="http://schemas.openxmlformats.org/officeDocument/2006/relationships/notesMaster" Target="/ppt/notesMasters/notesMaster1.xml" Id="Rf863a9d58e6e4e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3c4c835349412c" /><Relationship Type="http://schemas.openxmlformats.org/officeDocument/2006/relationships/notesMaster" Target="/ppt/notesMasters/notesMaster1.xml" Id="R0813b86246344a3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953ddcabb3d4c05" /><Relationship Type="http://schemas.openxmlformats.org/officeDocument/2006/relationships/notesMaster" Target="/ppt/notesMasters/notesMaster1.xml" Id="R0dab5f205e52478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e4d84bede114ca0" /><Relationship Type="http://schemas.openxmlformats.org/officeDocument/2006/relationships/notesMaster" Target="/ppt/notesMasters/notesMaster1.xml" Id="R82a83b4d78b7458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0cdef2d8a4443a" /><Relationship Type="http://schemas.openxmlformats.org/officeDocument/2006/relationships/notesMaster" Target="/ppt/notesMasters/notesMaster1.xml" Id="R081dee11369c4d6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cb57ba4df034026" /><Relationship Type="http://schemas.openxmlformats.org/officeDocument/2006/relationships/notesMaster" Target="/ppt/notesMasters/notesMaster1.xml" Id="Refc5ab22100e473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b924dc426d14a32" /><Relationship Type="http://schemas.openxmlformats.org/officeDocument/2006/relationships/notesMaster" Target="/ppt/notesMasters/notesMaster1.xml" Id="R85adcbd49d7f471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4fd9f672584e24" /><Relationship Type="http://schemas.openxmlformats.org/officeDocument/2006/relationships/notesMaster" Target="/ppt/notesMasters/notesMaster1.xml" Id="R18d402ba46ad4e9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34836da52e743ea" /><Relationship Type="http://schemas.openxmlformats.org/officeDocument/2006/relationships/notesMaster" Target="/ppt/notesMasters/notesMaster1.xml" Id="R89ef5a1d21eb4f6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257734121649ab" /><Relationship Type="http://schemas.openxmlformats.org/officeDocument/2006/relationships/notesMaster" Target="/ppt/notesMasters/notesMaster1.xml" Id="Rfc7445f2e4cb479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dd365d083a74ba0" /><Relationship Type="http://schemas.openxmlformats.org/officeDocument/2006/relationships/notesMaster" Target="/ppt/notesMasters/notesMaster1.xml" Id="Re7105f6e4ff14f1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74a73e5a2944741" /><Relationship Type="http://schemas.openxmlformats.org/officeDocument/2006/relationships/notesMaster" Target="/ppt/notesMasters/notesMaster1.xml" Id="R0036302564cd4d8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7d2d5c583394245" /><Relationship Type="http://schemas.openxmlformats.org/officeDocument/2006/relationships/notesMaster" Target="/ppt/notesMasters/notesMaster1.xml" Id="R9da4fc01dbf5478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6cba62cb6df4bea" /><Relationship Type="http://schemas.openxmlformats.org/officeDocument/2006/relationships/notesMaster" Target="/ppt/notesMasters/notesMaster1.xml" Id="Rb47acee5890b438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50a42137c5746c5" /><Relationship Type="http://schemas.openxmlformats.org/officeDocument/2006/relationships/notesMaster" Target="/ppt/notesMasters/notesMaster1.xml" Id="R83b6610bbceb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2c527c0f746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af05044004e9d" /><Relationship Type="http://schemas.openxmlformats.org/officeDocument/2006/relationships/slideLayout" Target="/ppt/slideLayouts/slideLayout1.xml" Id="R2a4babba5c9d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babba5c9d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7a2e724b14cc5" /><Relationship Type="http://schemas.openxmlformats.org/officeDocument/2006/relationships/image" Target="/ppt/media/image.bin" Id="Ra39cf906a7eb4c6c" /><Relationship Type="http://schemas.openxmlformats.org/officeDocument/2006/relationships/notesSlide" Target="/ppt/notesSlides/notesSlide1.xml" Id="Rbd60f4177b48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a48c04d664a04" /><Relationship Type="http://schemas.openxmlformats.org/officeDocument/2006/relationships/notesSlide" Target="/ppt/notesSlides/notesSlide2.xml" Id="Raf22609efdfa49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2b8b48d954d63" /><Relationship Type="http://schemas.openxmlformats.org/officeDocument/2006/relationships/notesSlide" Target="/ppt/notesSlides/notesSlide3.xml" Id="Rdccfc06dab664e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79cee613f4d02" /><Relationship Type="http://schemas.openxmlformats.org/officeDocument/2006/relationships/notesSlide" Target="/ppt/notesSlides/notesSlide4.xml" Id="Ra1a7c8c890a24f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f571b0a04ae1" /><Relationship Type="http://schemas.openxmlformats.org/officeDocument/2006/relationships/image" Target="/ppt/media/image2.bin" Id="Rb205ffc061124ea1" /><Relationship Type="http://schemas.openxmlformats.org/officeDocument/2006/relationships/image" Target="/ppt/media/image3.bin" Id="R8e6894f5595a44db" /><Relationship Type="http://schemas.openxmlformats.org/officeDocument/2006/relationships/image" Target="/ppt/media/image4.bin" Id="R28e027da22e9448d" /><Relationship Type="http://schemas.openxmlformats.org/officeDocument/2006/relationships/notesSlide" Target="/ppt/notesSlides/notesSlide5.xml" Id="R3a85bd08cb42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bbc8203664535" /><Relationship Type="http://schemas.openxmlformats.org/officeDocument/2006/relationships/image" Target="/ppt/media/image5.bin" Id="Rc12df6b7e65844f0" /><Relationship Type="http://schemas.openxmlformats.org/officeDocument/2006/relationships/notesSlide" Target="/ppt/notesSlides/notesSlide6.xml" Id="Ra3a76c0bacc040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f38aae604632" /><Relationship Type="http://schemas.openxmlformats.org/officeDocument/2006/relationships/image" Target="/ppt/media/image6.bin" Id="Rb9c9b85f7b9b4e54" /><Relationship Type="http://schemas.openxmlformats.org/officeDocument/2006/relationships/notesSlide" Target="/ppt/notesSlides/notesSlide7.xml" Id="Ra526d30abfbd4c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5bb7bfa7048c8" /><Relationship Type="http://schemas.openxmlformats.org/officeDocument/2006/relationships/notesSlide" Target="/ppt/notesSlides/notesSlide8.xml" Id="R7b046f6149f0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b48e460ff4d89" /><Relationship Type="http://schemas.openxmlformats.org/officeDocument/2006/relationships/image" Target="/ppt/media/image7.bin" Id="Rd547d16574604764" /><Relationship Type="http://schemas.openxmlformats.org/officeDocument/2006/relationships/notesSlide" Target="/ppt/notesSlides/notesSlide9.xml" Id="R7f2f92c0034448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82c8569f24a62" /><Relationship Type="http://schemas.openxmlformats.org/officeDocument/2006/relationships/image" Target="/ppt/media/image8.bin" Id="Reecf07d8e9d2431c" /><Relationship Type="http://schemas.openxmlformats.org/officeDocument/2006/relationships/image" Target="/ppt/media/image9.bin" Id="R91ec42b8656d4a58" /><Relationship Type="http://schemas.openxmlformats.org/officeDocument/2006/relationships/notesSlide" Target="/ppt/notesSlides/notesSlide10.xml" Id="Rd08c379f0e2a43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7a6b716dc49e4" /><Relationship Type="http://schemas.openxmlformats.org/officeDocument/2006/relationships/image" Target="/ppt/media/image10.bin" Id="Ra33e236cec924bd2" /><Relationship Type="http://schemas.openxmlformats.org/officeDocument/2006/relationships/notesSlide" Target="/ppt/notesSlides/notesSlide11.xml" Id="R22cdef2d319a44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f5917941f4b5f" /><Relationship Type="http://schemas.openxmlformats.org/officeDocument/2006/relationships/notesSlide" Target="/ppt/notesSlides/notesSlide12.xml" Id="Reb38f2fdbfff48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1da4285a34fe6" /><Relationship Type="http://schemas.openxmlformats.org/officeDocument/2006/relationships/notesSlide" Target="/ppt/notesSlides/notesSlide13.xml" Id="Rc62b82e3e9e94f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b612be3145e8" /><Relationship Type="http://schemas.openxmlformats.org/officeDocument/2006/relationships/image" Target="/ppt/media/image11.bin" Id="Ra5f9e44e9f1d45e8" /><Relationship Type="http://schemas.openxmlformats.org/officeDocument/2006/relationships/notesSlide" Target="/ppt/notesSlides/notesSlide14.xml" Id="R002c2bda892f45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0d3546421483c" /><Relationship Type="http://schemas.openxmlformats.org/officeDocument/2006/relationships/image" Target="/ppt/media/image.png" Id="Rd65f5fa95fa84b62" /><Relationship Type="http://schemas.openxmlformats.org/officeDocument/2006/relationships/notesSlide" Target="/ppt/notesSlides/notesSlide15.xml" Id="Rc884727a792845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aaf1409fd48fa" /><Relationship Type="http://schemas.openxmlformats.org/officeDocument/2006/relationships/image" Target="/ppt/media/image2.png" Id="Rf7c3512c2f654ddf" /><Relationship Type="http://schemas.openxmlformats.org/officeDocument/2006/relationships/notesSlide" Target="/ppt/notesSlides/notesSlide16.xml" Id="Rc989486858124a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2ca20bc4f4351" /><Relationship Type="http://schemas.openxmlformats.org/officeDocument/2006/relationships/image" Target="/ppt/media/image12.bin" Id="R6484a78ca0044a0e" /><Relationship Type="http://schemas.openxmlformats.org/officeDocument/2006/relationships/notesSlide" Target="/ppt/notesSlides/notesSlide17.xml" Id="R1427733497a2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b7566b0f644db" /><Relationship Type="http://schemas.openxmlformats.org/officeDocument/2006/relationships/image" Target="/ppt/media/image13.bin" Id="R0cede87815334da6" /><Relationship Type="http://schemas.openxmlformats.org/officeDocument/2006/relationships/notesSlide" Target="/ppt/notesSlides/notesSlide18.xml" Id="R7d20ab60dbd04e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004dec9fa461f" /><Relationship Type="http://schemas.openxmlformats.org/officeDocument/2006/relationships/image" Target="/ppt/media/image14.bin" Id="Raf835f47da3347fd" /><Relationship Type="http://schemas.openxmlformats.org/officeDocument/2006/relationships/image" Target="/ppt/media/image15.bin" Id="R0cfa8dc2a271463e" /><Relationship Type="http://schemas.openxmlformats.org/officeDocument/2006/relationships/notesSlide" Target="/ppt/notesSlides/notesSlide19.xml" Id="Rda2ea8480af741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7bd42adb4471e" /><Relationship Type="http://schemas.openxmlformats.org/officeDocument/2006/relationships/image" Target="/ppt/media/image16.bin" Id="R3d97435d31624c6c" /><Relationship Type="http://schemas.openxmlformats.org/officeDocument/2006/relationships/image" Target="/ppt/media/image17.bin" Id="Rcd048c13d9df40bb" /><Relationship Type="http://schemas.openxmlformats.org/officeDocument/2006/relationships/notesSlide" Target="/ppt/notesSlides/notesSlide20.xml" Id="R03ab5c71555248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bdacadaf464a" /><Relationship Type="http://schemas.openxmlformats.org/officeDocument/2006/relationships/notesSlide" Target="/ppt/notesSlides/notesSlide21.xml" Id="R1e8fc5b4a0ab4a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91097b57e4397" /><Relationship Type="http://schemas.openxmlformats.org/officeDocument/2006/relationships/image" Target="/ppt/media/image3.png" Id="R3cda59bcead84299" /><Relationship Type="http://schemas.openxmlformats.org/officeDocument/2006/relationships/notesSlide" Target="/ppt/notesSlides/notesSlide22.xml" Id="R93a22658614246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a392dd2ea49d4" /><Relationship Type="http://schemas.openxmlformats.org/officeDocument/2006/relationships/image" Target="/ppt/media/image4.png" Id="R66fabf7850c744ba" /><Relationship Type="http://schemas.openxmlformats.org/officeDocument/2006/relationships/image" Target="/ppt/media/image5.png" Id="R22a19516d42d4f9e" /><Relationship Type="http://schemas.openxmlformats.org/officeDocument/2006/relationships/notesSlide" Target="/ppt/notesSlides/notesSlide23.xml" Id="R94309330cfff42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cd60cca34581" /><Relationship Type="http://schemas.openxmlformats.org/officeDocument/2006/relationships/image" Target="/ppt/media/image18.bin" Id="R852029f0a58d44e4" /><Relationship Type="http://schemas.openxmlformats.org/officeDocument/2006/relationships/notesSlide" Target="/ppt/notesSlides/notesSlide24.xml" Id="R86aa772e7c194f8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fc173ed464361" /><Relationship Type="http://schemas.openxmlformats.org/officeDocument/2006/relationships/image" Target="/ppt/media/image6.png" Id="Rdad88cce962c4e39" /><Relationship Type="http://schemas.openxmlformats.org/officeDocument/2006/relationships/notesSlide" Target="/ppt/notesSlides/notesSlide25.xml" Id="R082fe283e95f41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034ea305548a5" /><Relationship Type="http://schemas.openxmlformats.org/officeDocument/2006/relationships/image" Target="/ppt/media/image19.bin" Id="R4a39dd95b985439c" /><Relationship Type="http://schemas.openxmlformats.org/officeDocument/2006/relationships/notesSlide" Target="/ppt/notesSlides/notesSlide26.xml" Id="Rfb7380b95cc441d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2ccc5060a4afe" /><Relationship Type="http://schemas.openxmlformats.org/officeDocument/2006/relationships/image" Target="/ppt/media/image7.png" Id="R702f33e6e8ef4c56" /><Relationship Type="http://schemas.openxmlformats.org/officeDocument/2006/relationships/image" Target="/ppt/media/image8.png" Id="Ra9f2859d5e244d26" /><Relationship Type="http://schemas.openxmlformats.org/officeDocument/2006/relationships/notesSlide" Target="/ppt/notesSlides/notesSlide27.xml" Id="Re7d33ebd6ffe49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2a01f63f84d48" /><Relationship Type="http://schemas.openxmlformats.org/officeDocument/2006/relationships/image" Target="/ppt/media/image20.bin" Id="R86259e7220264625" /><Relationship Type="http://schemas.openxmlformats.org/officeDocument/2006/relationships/image" Target="/ppt/media/image9.png" Id="R6962fd9eeb3e4bb7" /><Relationship Type="http://schemas.openxmlformats.org/officeDocument/2006/relationships/notesSlide" Target="/ppt/notesSlides/notesSlide28.xml" Id="R2d3c4ac9463d43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e7eb55efe4cda" /><Relationship Type="http://schemas.openxmlformats.org/officeDocument/2006/relationships/notesSlide" Target="/ppt/notesSlides/notesSlide29.xml" Id="Re4928d81fb3b47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8159381cb408e" /><Relationship Type="http://schemas.openxmlformats.org/officeDocument/2006/relationships/image" Target="/ppt/media/image21.bin" Id="Rbd639554ec5c48bf" /><Relationship Type="http://schemas.openxmlformats.org/officeDocument/2006/relationships/notesSlide" Target="/ppt/notesSlides/notesSlide30.xml" Id="Re75f654a0ff8466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cec42187c4f1f" /><Relationship Type="http://schemas.openxmlformats.org/officeDocument/2006/relationships/image" Target="/ppt/media/image22.bin" Id="Rdd52242383034b76" /><Relationship Type="http://schemas.openxmlformats.org/officeDocument/2006/relationships/notesSlide" Target="/ppt/notesSlides/notesSlide31.xml" Id="Rceeb0b71444449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511833fca4743" /><Relationship Type="http://schemas.openxmlformats.org/officeDocument/2006/relationships/image" Target="/ppt/media/image23.bin" Id="R101a5289c7c54785" /><Relationship Type="http://schemas.openxmlformats.org/officeDocument/2006/relationships/notesSlide" Target="/ppt/notesSlides/notesSlide32.xml" Id="Rd85bff5e6a7544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97ed86f904d0f" /><Relationship Type="http://schemas.openxmlformats.org/officeDocument/2006/relationships/image" Target="/ppt/media/image24.bin" Id="Rd9969b92991247fb" /><Relationship Type="http://schemas.openxmlformats.org/officeDocument/2006/relationships/image" Target="/ppt/media/image25.bin" Id="R02ebc995daab4c29" /><Relationship Type="http://schemas.openxmlformats.org/officeDocument/2006/relationships/notesSlide" Target="/ppt/notesSlides/notesSlide33.xml" Id="R92559170671949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f705214fc40cb" /><Relationship Type="http://schemas.openxmlformats.org/officeDocument/2006/relationships/image" Target="/ppt/media/image10.png" Id="Rb9134cc6063b4cf6" /><Relationship Type="http://schemas.openxmlformats.org/officeDocument/2006/relationships/image" Target="/ppt/media/image11.png" Id="R3eb19deedfb14c67" /><Relationship Type="http://schemas.openxmlformats.org/officeDocument/2006/relationships/notesSlide" Target="/ppt/notesSlides/notesSlide34.xml" Id="Rcffb7a6985104a9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8d76010604996" /><Relationship Type="http://schemas.openxmlformats.org/officeDocument/2006/relationships/image" Target="/ppt/media/image12.png" Id="R2999e5e58b5e435f" /><Relationship Type="http://schemas.openxmlformats.org/officeDocument/2006/relationships/notesSlide" Target="/ppt/notesSlides/notesSlide35.xml" Id="Rfdb0f4773c0d45a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86ef8aa314e9f" /><Relationship Type="http://schemas.openxmlformats.org/officeDocument/2006/relationships/image" Target="/ppt/media/image26.bin" Id="R1c3ed4779b654075" /><Relationship Type="http://schemas.openxmlformats.org/officeDocument/2006/relationships/notesSlide" Target="/ppt/notesSlides/notesSlide36.xml" Id="R2c3db5c0b4984b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0c777865949f5" /><Relationship Type="http://schemas.openxmlformats.org/officeDocument/2006/relationships/image" Target="/ppt/media/image27.bin" Id="R0b6ed13a064c4268" /><Relationship Type="http://schemas.openxmlformats.org/officeDocument/2006/relationships/image" Target="/ppt/media/image28.bin" Id="Rf7ec78b997e44eb6" /><Relationship Type="http://schemas.openxmlformats.org/officeDocument/2006/relationships/notesSlide" Target="/ppt/notesSlides/notesSlide37.xml" Id="R876a5ee97c944c1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4ff03c1d40f9" /><Relationship Type="http://schemas.openxmlformats.org/officeDocument/2006/relationships/image" Target="/ppt/media/image29.bin" Id="R493ca05a12d942f0" /><Relationship Type="http://schemas.openxmlformats.org/officeDocument/2006/relationships/image" Target="/ppt/media/image30.bin" Id="R45f6602357a3422e" /><Relationship Type="http://schemas.openxmlformats.org/officeDocument/2006/relationships/image" Target="/ppt/media/image31.bin" Id="Red4735d944694b3f" /><Relationship Type="http://schemas.openxmlformats.org/officeDocument/2006/relationships/notesSlide" Target="/ppt/notesSlides/notesSlide38.xml" Id="Rfd8a4948cac94ad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6b1b19f044490" /><Relationship Type="http://schemas.openxmlformats.org/officeDocument/2006/relationships/image" Target="/ppt/media/image32.bin" Id="Rc608a0d7dbc040b2" /><Relationship Type="http://schemas.openxmlformats.org/officeDocument/2006/relationships/notesSlide" Target="/ppt/notesSlides/notesSlide39.xml" Id="R547c9381ec4c468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8de5faf5648e9" /><Relationship Type="http://schemas.openxmlformats.org/officeDocument/2006/relationships/image" Target="/ppt/media/image33.bin" Id="Re89afea58f5f4c0c" /><Relationship Type="http://schemas.openxmlformats.org/officeDocument/2006/relationships/notesSlide" Target="/ppt/notesSlides/notesSlide40.xml" Id="Rbf0bb724965548e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4b451db054d48" /><Relationship Type="http://schemas.openxmlformats.org/officeDocument/2006/relationships/image" Target="/ppt/media/image13.png" Id="Ra4c833c930dd4da2" /><Relationship Type="http://schemas.openxmlformats.org/officeDocument/2006/relationships/image" Target="/ppt/media/image14.png" Id="R0e4ae64a6b0f45c1" /><Relationship Type="http://schemas.openxmlformats.org/officeDocument/2006/relationships/notesSlide" Target="/ppt/notesSlides/notesSlide41.xml" Id="R1926136249c142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9d606c27547ba" /><Relationship Type="http://schemas.openxmlformats.org/officeDocument/2006/relationships/image" Target="/ppt/media/image15.png" Id="R8cda42db3d134a6c" /><Relationship Type="http://schemas.openxmlformats.org/officeDocument/2006/relationships/image" Target="/ppt/media/image16.png" Id="R6afa12bc415840af" /><Relationship Type="http://schemas.openxmlformats.org/officeDocument/2006/relationships/notesSlide" Target="/ppt/notesSlides/notesSlide42.xml" Id="R91ad35c0fbf3435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a47b8cb874455" /><Relationship Type="http://schemas.openxmlformats.org/officeDocument/2006/relationships/image" Target="/ppt/media/image34.bin" Id="R42e23e818d1b4f91" /><Relationship Type="http://schemas.openxmlformats.org/officeDocument/2006/relationships/notesSlide" Target="/ppt/notesSlides/notesSlide43.xml" Id="R992ff82f693a447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c5e640829411f" /><Relationship Type="http://schemas.openxmlformats.org/officeDocument/2006/relationships/image" Target="/ppt/media/image35.bin" Id="R28fc7932e20c428c" /><Relationship Type="http://schemas.openxmlformats.org/officeDocument/2006/relationships/notesSlide" Target="/ppt/notesSlides/notesSlide44.xml" Id="Ra5d64bda691b490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d089caa634b6d" /><Relationship Type="http://schemas.openxmlformats.org/officeDocument/2006/relationships/image" Target="/ppt/media/image36.bin" Id="Ra9bd2a7d58404a98" /><Relationship Type="http://schemas.openxmlformats.org/officeDocument/2006/relationships/notesSlide" Target="/ppt/notesSlides/notesSlide45.xml" Id="R247e0d7711824dc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5d066d45446fd" /><Relationship Type="http://schemas.openxmlformats.org/officeDocument/2006/relationships/notesSlide" Target="/ppt/notesSlides/notesSlide46.xml" Id="Rba6a0e189c664d0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f5a8efa54eee" /><Relationship Type="http://schemas.openxmlformats.org/officeDocument/2006/relationships/image" Target="/ppt/media/image17.png" Id="Re2d03bdcc7bb479d" /><Relationship Type="http://schemas.openxmlformats.org/officeDocument/2006/relationships/notesSlide" Target="/ppt/notesSlides/notesSlide47.xml" Id="R5178ff105acc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cf906a7eb4c6c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137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D0FA5-4F68-431B-90AE-E091CB8E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9B3A-3709-4768-9507-5F914F8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25D54-C656-45D8-91DC-41B300F1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rPr>
              <a:t>PORTFOLIO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38F9D-5FBD-4216-949A-C1926FE3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33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杨蜜萁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Miki Yang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011AF-B9CA-4E74-AF6B-47F2A93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Product Designer / 高级产品设计师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EA06F-6C73-4E83-B9C4-1C20CA88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rPr>
              <a:t>复杂 B 端系统 · 工业 HMI · 智能硬件 · AI 产品体验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E8FD6-6FEF-4435-9A65-9FDA541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555FF-9BA9-4009-AD74-48FA75F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rPr>
              <a:t>12 年产品与视觉设计经验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E4AA7-5323-4BF7-9E3B-AC811FCD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rPr>
              <a:t>miqi723@163.com  ·  mikistudio.com.cn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5826D-B531-4133-93E9-71B3627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1AB"/>
                </a:solidFill>
                <a:latin typeface="Arial Unicode MS"/>
                <a:ea typeface="Arial Unicode MS"/>
                <a:cs typeface="Arial Unicode MS"/>
              </a:rPr>
              <a:t>01 / 47</a:t>
            </a:r>
          </a:p>
        </p:txBody>
      </p:sp>
    </p:spTree>
    <p:extLst>
      <p:ext uri="{BB962C8B-B14F-4D97-AF65-F5344CB8AC3E}">
        <p14:creationId xmlns:p14="http://schemas.microsoft.com/office/powerpoint/2010/main" val="1419979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4BB78-F3B9-4501-917F-247E5A21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01 /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8BFFE-D3EF-411F-81AF-8606C2A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02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A250F-61DE-4622-AD87-107D6B50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332F8-2A57-4C36-8919-FBBC3555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我处理的是系统判断，不只是界面。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FC4B7-89F8-4BB5-A8A3-AA8BC472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把业务、角色、状态、权限、技术约束和现场风险组织成可上线、可验证、可交付的产品方案。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2ED4A-CBF8-4070-803A-E34F2E72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197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A14B4-115B-4177-8D07-A3FA304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A8EE4-4B38-4B6B-B9EA-AC9231DE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479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复杂系统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D67D-161E-481D-AE73-FB922B7C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D3D8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3D8D4"/>
                </a:solidFill>
                <a:latin typeface="Arial Unicode MS"/>
                <a:ea typeface="Arial Unicode MS"/>
                <a:cs typeface="Arial Unicode MS"/>
              </a:rPr>
              <a:t>把角色任务、权限边界和异常路径组织成清晰结构。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92266-0949-42C9-8F5A-35EBD71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工业 AI · PCBA · WMS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1D7C-4A36-4BD0-8660-42A0FC96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52197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93F28-586E-4D1F-8273-4FBFE96F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C35D4-AECE-475B-97CF-426D2960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479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工业 HMI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23691-2E59-4458-8AF3-E82C24A8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在算法、设备、渲染和现场安全约束下做产品取舍。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9D69A-CA5E-4549-86ED-30C5BD07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工业 AI · 智能硬件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B2603-A142-49EC-AD16-5CDD814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197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8A504-F80A-4D98-9F54-1830C81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FCBC2-72AD-4408-94B3-4F81AEB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38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移动体验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339FA-659F-4706-8455-1CDDD6F1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处理地图、原生短信、小屏操作和跨设备适配。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CE7C2-4DFE-4721-A6AA-5AA495D1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GPS · 5G 消息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D07A4-7522-47E9-BA79-E3C50EB6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52197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36118-2B4E-46F9-8191-8B52C0C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FC365-9467-4A2C-A4B1-9588F6CD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38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设计工程化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F06EC-0560-4AA8-B22E-314F3BAD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D3D8D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3D8D4"/>
                </a:solidFill>
                <a:latin typeface="Arial Unicode MS"/>
                <a:ea typeface="Arial Unicode MS"/>
                <a:cs typeface="Arial Unicode MS"/>
              </a:rPr>
              <a:t>用规范、原型、QA 和 AI 辅助工具降低交付风险。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8311C-E472-45B2-B116-52D16D9C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WMS · AI 工作流</a:t>
            </a:r>
          </a:p>
        </p:txBody>
      </p:sp>
    </p:spTree>
    <p:extLst>
      <p:ext uri="{BB962C8B-B14F-4D97-AF65-F5344CB8AC3E}">
        <p14:creationId xmlns:p14="http://schemas.microsoft.com/office/powerpoint/2010/main" val="1960286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B3728-582B-4A9D-8141-EC3A2FE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02 / CAREER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71562-1988-4398-9664-F6EF89F9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03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68C9-3452-420F-9DB1-812CD53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5046D-20BE-4667-8B2F-34AF9D1B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12 年，从视觉执行走到复杂产品与体验管理。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D9CC8-30FC-48C7-821F-465EE4C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职位、行业和责任不断变化，但主线一直是把信息组织成可理解、可执行的产品体验。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6E3A-D8FD-43C3-8C44-9388E37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E770A-D366-4106-B5FE-4546485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2014—2015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76102-4C0B-498C-B506-CE1480F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广东点控科技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3F26-2FAB-4C6B-A494-3006FE4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UI 设计师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FAF2C-C395-47BE-B6CA-47F89C6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OA / 门店管理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4FD53-CC28-4A85-B8F0-4DECDC58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3C9AE-2374-4B90-98A9-AE4287B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2015—2017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5155E-B0D5-48D1-A1D2-429F6111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珠海银泰贸易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0E745-AA69-42B8-A25F-91690DAA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UI/UX 设计师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AC583-D9BC-46EE-8534-57DBB10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0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冷库监控 / 智能硬件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52F68-4DEE-470D-9E22-4699DDF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A7EA6-4A14-47C7-AF90-67FB29F4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2017—2018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7F555-2DCD-4850-AFA4-B93FE836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珠海罗西尼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45B42-FBBF-489F-B3B2-EADB670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视觉运营设计师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D2D4B-09C4-472B-BFA3-9B66B8A7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电商 / 品牌视觉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01228-9595-46C8-BDDB-7AD848E2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F5C4D-DE8C-472F-B695-6E398AA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2019—2020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8C837-0B5C-4D35-8148-DE1D13BB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珠海达明科技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B4EDF-0E27-4056-BD57-75A78EC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rPr>
              <a:t>UI/UX 设计师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9D87F-3AD4-483D-822D-481FBF16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rPr>
              <a:t>PCBA / GPS / WMS / 工业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99492-20BB-41B8-9DEA-ED58478F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9A3CE-29AA-4949-BE60-3B3318E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2021—2022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6D082-DCA9-4610-9F41-9CB33976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珠海小源科技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2DB33-5E44-4EBA-A469-EFC8B41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95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rPr>
              <a:t>用户体验经理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9A700-F81C-48E8-95C4-337407D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29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rPr>
              <a:t>5G 消息 / 团队管理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B3107-0CA7-4CD4-88BC-43CF1C8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3352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484115-6740-4E64-9447-70CD7148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2022—至今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53E60A-98AE-418F-BB64-211DD8B1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万门科技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F3B87-46ED-47DC-929D-2A50D64B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1D6D2"/>
                </a:solidFill>
                <a:latin typeface="Arial Unicode MS"/>
                <a:ea typeface="Arial Unicode MS"/>
                <a:cs typeface="Arial Unicode MS"/>
              </a:rPr>
              <a:t>产品设计师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6B5B2D-83BA-4424-B91D-DD57715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29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DA69E"/>
                </a:solidFill>
                <a:latin typeface="Arial Unicode MS"/>
                <a:ea typeface="Arial Unicode MS"/>
                <a:cs typeface="Arial Unicode MS"/>
              </a:rPr>
              <a:t>工业 AI / HMI / AI 工作流</a:t>
            </a:r>
          </a:p>
        </p:txBody>
      </p:sp>
    </p:spTree>
    <p:extLst>
      <p:ext uri="{BB962C8B-B14F-4D97-AF65-F5344CB8AC3E}">
        <p14:creationId xmlns:p14="http://schemas.microsoft.com/office/powerpoint/2010/main" val="1189361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1CE7C-E211-4F6C-8FD4-13DC25D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03 / CAPABILITY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EABC4-F872-4141-8466-4824AEF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04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23A4-B6B5-4626-8C8A-4370151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BD79D-ECB8-48B7-A877-21AADC6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四类能力都有后续项目证据。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4B05C-BCCD-4716-A1B6-F77E1A32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页码不是目录装饰；它让招聘者直接跳到最相关的项目判断与界面证据。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B0678-E7C1-4313-A29C-E45693F3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D883-800A-4EA5-93C4-37265EC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AEA49-A3C0-4767-940C-A390D8D0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复杂 B 端与流程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A4ECE-294B-4584-98EF-B3226C74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信息架构 · 任务流 · 状态 · 异常 · 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047DC-9197-432F-B371-6D35EF45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工业 AI P06–13 · PCBA P14–21 · WMS P22–29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55A30-636A-4C68-B6E4-A24AA9E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0D2A3-646F-44D2-A48E-2C6ACFE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3F111-911A-4DC7-AAA2-26825F9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95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工业 HMI 与智能硬件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7AD37-5FB4-46D6-9516-3A2DA6D8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14675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设备状态 · 算法边界 · 高风险操作 · 安全接管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0DB3A-88EC-4921-9583-A6ABEEE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工业 AI P06–13 · PCBA P14–21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AB20C-5009-46D8-9327-2A495412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96035-3524-4C4E-A4ED-AFD2C17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BB8F2-812A-44E3-9577-3A10836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移动端与多端体验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B195D-E081-4D6E-B71A-D9D99BB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148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地图定位 · 小屏扫码 · 原生短信 · 跨设备适配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11DD6-C425-40BA-8904-CC9A6751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5G P30–35 · GPS P36–39 · WMS P22–29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623A0-86B4-4A2B-802D-59AF2CB5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B6C4B-EBB5-4123-AB6D-0662817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7EA9E-7ACE-479A-A386-6171B93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95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Design System 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15F86-C30B-4371-80C1-548BEB15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14925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组件 · 规则 · QA · 原型 · AI 辅助检查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416D2-DEBF-43C8-95E8-F2E311D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WMS P28–29 · 5G P32–35 · AI 工作流 P43–45</a:t>
            </a:r>
          </a:p>
        </p:txBody>
      </p:sp>
    </p:spTree>
    <p:extLst>
      <p:ext uri="{BB962C8B-B14F-4D97-AF65-F5344CB8AC3E}">
        <p14:creationId xmlns:p14="http://schemas.microsoft.com/office/powerpoint/2010/main" val="1365203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D4DEE-8342-4345-B404-4CE63E94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04 / SELECTED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B4003-8B15-4F16-B2B3-8C3CF725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2C6C0-66E9-4B24-9097-8C96FC4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64989-19B5-47CC-B667-4BC4B425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三个深度系统案例建立主线，四项实践补足宽度。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52CA6-0ED1-4A99-8842-4AE04F03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主案例证明复杂度和落地；其他案例证明移动端、数据可视化、团队影响力和 AI 辅助交付。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F41C6-C29B-4E3D-9227-070B53BD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953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5ffc061124ea1"/>
          <a:stretch xmlns:a="http://schemas.openxmlformats.org/drawingml/2006/main"/>
        </p:blipFill>
        <p:spPr>
          <a:xfrm xmlns:a="http://schemas.openxmlformats.org/drawingml/2006/main">
            <a:off x="900642" y="2171700"/>
            <a:ext cx="1456267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67317-7DEE-43B7-BA00-1608EB2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B25FA-61CD-499C-A514-822EFB3E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工业 AI 视觉质检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B693C-8118-4278-8C76-8EC6083B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62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算法结果如何被现场理解和安全接管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69205-2F29-45F4-8C23-B38D820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P06–13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D539F-A41E-4B83-B00F-CA31D904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6953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894f5595a44db"/>
          <a:stretch xmlns:a="http://schemas.openxmlformats.org/drawingml/2006/main"/>
        </p:blipFill>
        <p:spPr>
          <a:xfrm xmlns:a="http://schemas.openxmlformats.org/drawingml/2006/main">
            <a:off x="973455" y="3362325"/>
            <a:ext cx="131064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3F234-527D-4DB6-9360-8FB4284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04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9713A-2B01-484B-B6A4-28823A28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PCBA 插件机控制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F4FFB-12DD-4EBF-958A-2EBC75F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52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在存量系统与真实产线中重构关键流程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C3CC1-BA49-43DA-AEBA-C1D501F1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81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P14–21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A4BF-6F66-4277-8997-A69368E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953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027da22e9448d"/>
          <a:stretch xmlns:a="http://schemas.openxmlformats.org/drawingml/2006/main"/>
        </p:blipFill>
        <p:spPr>
          <a:xfrm xmlns:a="http://schemas.openxmlformats.org/drawingml/2006/main">
            <a:off x="901029" y="4552950"/>
            <a:ext cx="1455493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548E5-BC20-4E6F-89DF-BF4CC93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910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CFFC8-F0C2-46E2-BDD9-0388ED1A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WMS 智能仓储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E667B-4A9B-470C-BA29-E42F735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434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Web / RF 双端任务重组与设计系统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0DABA-F05D-4FF8-A6B5-F13400B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72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P22–29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47D24-7862-4769-AF2C-6BDB9815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ADDITIONAL / PRACTICE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4A193-5F57-4487-95CE-C64B2AC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5G 消息规范与团队建设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A8302-699E-428B-A527-6D68BAA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移动端 · 规范 · 培训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189F2-60DA-4559-8EA0-532A06F1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400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P30–35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632A8-2D73-4D59-B7CE-0E376ADA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58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75234A-BCCA-4C37-A609-269F6215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28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GPS 轨迹定位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2DFE0-D85E-4569-B8E5-02F882C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337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地图 · 告警 · 技术取舍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49586-A814-4CBF-8A1A-B5C6DB8F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289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P36–39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1EED2-8D82-4FB3-9BBE-9AFB4575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58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9BF97-6F60-4F32-8E62-F1B2DC52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智能工厂数据大屏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E52BF-8E81-4A7D-87EC-F1C09D78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数据可视化 · 决策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7E8799-5C32-4644-8C19-E93915B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576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P40–42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FEE55-0436-4971-A475-A0A1347A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358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B6E4C-A30A-473D-99EC-253E5E9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86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AI 辅助设计工作流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2889A4-D271-4188-9931-C308B04F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原型 · 风险 ·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89FC3F-9E1B-4977-9024-D58C8D5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863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P43–45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0C6EA-5096-46DA-932F-5FB0B2C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14975"/>
            <a:ext cx="358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8800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DAD1C-9910-4E98-A0CF-2A2BB82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D59B-8D1F-4F74-8B30-E0A35FB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F6CC-AB65-458B-BDC2-5FE425F4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AB28A-9745-4FC1-883D-DA29288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工业 AI：把算法输出变成现场可执行判断。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C6180-59B6-468C-A476-CB39391B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铝材挤压视觉检测设备 · 约 2 个月 · 已上线并验收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B7967-32BB-4DE3-9BED-28B82C9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E9090-39C8-481A-9712-E469CDA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面向四类现场角色，重组检测、状态、权限和异常接管，让算法结果成为可理解、可处理、可追溯的操作信息。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59902-BD14-4B10-B947-5917DF8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ECCDB-93F5-47DD-A7EB-5F8F222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设计负责人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D76E3-6C16-446E-A459-D6DCE5E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7E02-2ABA-4EE5-91A6-2D85AD46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AI 质检 HMI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991DF-8C09-4040-BE7E-CA65971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C34C4-49E3-44E6-A1A8-813BF654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功能梳理 / UIUX / 规则 / 落地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503E9-C713-4C99-8B93-DF61ABAF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A67B8-68C8-4212-B052-58CE789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11 个核心模块上线验收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df6b7e65844f0"/>
          <a:srcRect xmlns:a="http://schemas.openxmlformats.org/drawingml/2006/main" l="152" t="0" r="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076450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70023-C7B7-402A-9BCC-05E6474D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观看重点｜项目开场图只说明产品场景；后续页面使用真实界面证明设计判断。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64805-D0E6-42BA-9BDF-62CEFEBA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客户匿名；公开版本不展示未经授权的真实检测效率数据。</a:t>
            </a:r>
          </a:p>
        </p:txBody>
      </p:sp>
    </p:spTree>
    <p:extLst>
      <p:ext uri="{BB962C8B-B14F-4D97-AF65-F5344CB8AC3E}">
        <p14:creationId xmlns:p14="http://schemas.microsoft.com/office/powerpoint/2010/main" val="86402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F80A8-6068-4E9F-9711-40E26477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EE500-9001-4ACE-B183-C35E482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EE170-11AD-49CD-BDEF-7A931738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06D63-02E0-4390-935D-FA541168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一套系统同时承载检测、设备和四类角色。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9DCBB-374D-4700-9C5B-543A6F3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系统复杂度决定界面不能按功能简单堆砌。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B3511-6934-4910-AF46-FDFD4F2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SYSTEM COMPLEXITY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A18AB-5922-464F-86FF-D302405F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2D + 3D 双模态、16 路工业相机、11 类缺陷，以及操作员、工程师、维护和质检四类任务同时进入一个 HMI。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ACA28-3C4A-467B-8F28-92658709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65326-D2D0-4452-A351-8B33273A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操作员：观察预警并处理当前任务。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5645D-C5D7-4D37-B73E-54515E8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3E7FF-36E8-4BF9-9B54-AD6535B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工程师：调整模型与检测条件。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94FAE-D56F-42B4-90DD-6A85937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A531-AC46-49BD-9239-0800E406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维护 / 质检：处理设备风险并追溯结果。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9b85f7b9b4e54"/>
          <a:stretch xmlns:a="http://schemas.openxmlformats.org/drawingml/2006/main"/>
        </p:blipFill>
        <p:spPr>
          <a:xfrm xmlns:a="http://schemas.openxmlformats.org/drawingml/2006/main">
            <a:off x="5090583" y="2076450"/>
            <a:ext cx="646853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E9867-5A54-4A82-B136-6E0D006B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观看重点｜同一页面需要同时支持实时画面、缺陷结果、设备状态和统计判断。</a:t>
            </a:r>
          </a:p>
        </p:txBody>
      </p:sp>
    </p:spTree>
    <p:extLst>
      <p:ext uri="{BB962C8B-B14F-4D97-AF65-F5344CB8AC3E}">
        <p14:creationId xmlns:p14="http://schemas.microsoft.com/office/powerpoint/2010/main" val="580677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438797-61D6-4324-8645-EFCA047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10207-5992-4C9C-B748-2C5912B5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FB7A-8847-4541-8EC1-C87B7CE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F36E-D2D5-4438-B027-AF7247B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四个原始问题决定了后续方案。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16246-57DF-4C22-AA4E-E76E2C3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问题不是四条口号；每一条都对应后面的界面、权限或安全机制。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16221-FD62-4B70-B2F2-C56C70D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19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DD68F-D0C8-4D5D-A41B-F54FB9C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03555-60CB-49F2-AF46-34318370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高密度信息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F196-7630-46D3-B7D8-5461694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4D9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4D9D5"/>
                </a:solidFill>
                <a:latin typeface="Arial Unicode MS"/>
                <a:ea typeface="Arial Unicode MS"/>
                <a:cs typeface="Arial Unicode MS"/>
              </a:rPr>
              <a:t>多路画面、缺陷和设备状态高频输出；直接平铺会推高判断成本。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B1173-7266-44FA-BE68-E8682D2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219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DEDB7-8FA0-4974-9743-EED3124F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0B094-23B1-4345-8A1F-DDCEF40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算法结果边界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176BF-170F-4854-9762-D744F6C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算法输出不能直接成为最终业务判定，需要条件、结果和追溯信息。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3A8DC-3800-4A06-A45A-CEAC106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219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78D7B-F0E6-42C4-A96B-CE4177E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74103-5BE4-41E4-8CBE-ECE8318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76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四类角色权限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F57BD-2157-4B6C-9F1C-C5B912B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工程师、操作员、维护和质检看到的信息与能执行的动作不同。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A0C65-3E79-4662-8893-001EF86D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2197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31325-7F27-4FFC-BAB3-988C041B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D22DA-D4B1-457A-B2C8-1857CD62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异常与误操作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E85AC-96FB-45D1-9A11-49F2F6A8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4D9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4D9D5"/>
                </a:solidFill>
                <a:latin typeface="Arial Unicode MS"/>
                <a:ea typeface="Arial Unicode MS"/>
                <a:cs typeface="Arial Unicode MS"/>
              </a:rPr>
              <a:t>数据擦除、系统重置和急停相关动作几乎没有现场容错空间。</a:t>
            </a:r>
          </a:p>
        </p:txBody>
      </p:sp>
    </p:spTree>
    <p:extLst>
      <p:ext uri="{BB962C8B-B14F-4D97-AF65-F5344CB8AC3E}">
        <p14:creationId xmlns:p14="http://schemas.microsoft.com/office/powerpoint/2010/main" val="208586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20706-92B0-4F81-943F-5BB28B6E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E59FE-0409-4B7B-830F-6629A7CD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09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5A91-080E-41E0-9F8E-3F6CB6C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D645C-E277-4C1E-A970-E88EE12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主屏按产线方位组织，而不是平铺 16 路画面。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24D1-140D-4A0F-BAD2-78CA4217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曾评估更具沉浸感的独立平铺 + 3D 截面方案，但渲染成本高，也不符合操作员对物理点位的直觉。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d16574604764"/>
          <a:stretch xmlns:a="http://schemas.openxmlformats.org/drawingml/2006/main"/>
        </p:blipFill>
        <p:spPr>
          <a:xfrm xmlns:a="http://schemas.openxmlformats.org/drawingml/2006/main">
            <a:off x="2810933" y="2038350"/>
            <a:ext cx="6570133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E81E7-2DD3-4920-9A77-6F3643D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观看重点｜相机画面按实际方位分组；关键状态、缺陷结果和设备信息位于同一判断视野。</a:t>
            </a:r>
          </a:p>
        </p:txBody>
      </p:sp>
    </p:spTree>
    <p:extLst>
      <p:ext uri="{BB962C8B-B14F-4D97-AF65-F5344CB8AC3E}">
        <p14:creationId xmlns:p14="http://schemas.microsoft.com/office/powerpoint/2010/main" val="643369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B5DAC-1FC5-48EF-A241-7052C373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50770-3814-4077-8B7A-D391B4A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10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11CF6-2E00-4697-B278-D199A8E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5E394-8293-44BC-8F26-5DCE26D1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算法结果必须可解释、可追溯。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4B686-DF06-46F2-9329-23075CD7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设计不修改算法模型；设计负责让检测条件、结果和执行记录对现场人员可见。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f07d8e9d2431c"/>
          <a:stretch xmlns:a="http://schemas.openxmlformats.org/drawingml/2006/main"/>
        </p:blipFill>
        <p:spPr>
          <a:xfrm xmlns:a="http://schemas.openxmlformats.org/drawingml/2006/main">
            <a:off x="609600" y="2193727"/>
            <a:ext cx="5238750" cy="2946797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56919-4067-4DF8-A86B-E9AC4FA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检测条件与阈值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F016-3656-4757-93D7-361B560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观看重点｜暴露模型、参数、检测条件和执行结果，避免把 AI 判断变成不可解释的黑箱。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c42b8656d4a58"/>
          <a:stretch xmlns:a="http://schemas.openxmlformats.org/drawingml/2006/main"/>
        </p:blipFill>
        <p:spPr>
          <a:xfrm xmlns:a="http://schemas.openxmlformats.org/drawingml/2006/main">
            <a:off x="6191250" y="2193727"/>
            <a:ext cx="5238750" cy="2946797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60E27-BD13-428C-AF46-476036DD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日志与追溯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D6A67-7C34-4BC9-9951-CE960F1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观看重点｜按时间、对象和执行结果保留记录，为异常排查和责任追溯提供依据。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1397212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BF37D-243A-4DFB-A44E-0FC11DCD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115A1-4701-46F9-BBB9-DDC2C18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11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F5546-636F-486D-B932-C03B084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B4B79-1920-4D4A-A504-992EE44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四类角色不能共享同一套操作权限。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ADC52-C7D7-4050-95F5-7618338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放弃维护成本高的按钮级控制，改为菜单级权限矩阵，定义每类角色的可见范围与操作边界。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e236cec924bd2"/>
          <a:stretch xmlns:a="http://schemas.openxmlformats.org/drawingml/2006/main"/>
        </p:blipFill>
        <p:spPr>
          <a:xfrm xmlns:a="http://schemas.openxmlformats.org/drawingml/2006/main">
            <a:off x="2808079" y="2038350"/>
            <a:ext cx="6575842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9D62E-9F91-4E06-9F77-21A5C4F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观看重点｜观看重点：工程师、操作员、维护与质检能进入哪些模块、看到哪些数据，以及高风险功能如何被隔离。</a:t>
            </a:r>
          </a:p>
        </p:txBody>
      </p:sp>
    </p:spTree>
    <p:extLst>
      <p:ext uri="{BB962C8B-B14F-4D97-AF65-F5344CB8AC3E}">
        <p14:creationId xmlns:p14="http://schemas.microsoft.com/office/powerpoint/2010/main" val="919459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7E18E-A6F6-41D1-844F-0C33C1C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B51EA-4913-4C93-B61C-644A2D66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12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5A85F-C227-4E4B-B71C-B1BD87F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05C80-02B9-4BB4-927D-F75B156F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自动化越强，越需要人工接管和安全冗余。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ECADD-7437-4170-A711-D50DA56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把已上线、未完整落地和设备安全机制分开表达，避免把设计方案写成既成成果。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C159-F3E4-4B56-B7C9-7B824BBA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85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E36C3-EDD2-483B-B302-26FB8B7A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C3645-69AC-4D45-B6C9-1E5BF15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在线调参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BA003-E116-4CE1-9678-F179B116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0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已上线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5866A-CF9E-49BB-9828-154A6DE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rPr>
              <a:t>不中断任务调整检测条件和参数。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4BCB5-A98A-4284-9C2B-3CF04702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85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FDFF5-376E-4BDA-A119-8DA2598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CC0AF-0424-4961-99DC-294391E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81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人工复判 / 接管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F0DAE-8675-4940-B1A1-3BD947E0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0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设计但未完整落地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8FAA4-1D38-45A4-82DC-A034F249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异常进入人工确认路径；受工期限制。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1AA87-7C4F-4BBD-82B3-E6C461C9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85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1A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919FF-D4B4-4C65-9B3C-4E2DA42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C84A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84A3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58813-9C85-4856-8BE4-8D6D8190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81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物理急停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5D30B-3E9E-459A-A72F-5A0101C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00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84A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84A3B"/>
                </a:solidFill>
                <a:latin typeface="Arial Unicode MS"/>
                <a:ea typeface="Arial Unicode MS"/>
                <a:cs typeface="Arial Unicode MS"/>
              </a:rPr>
              <a:t>设备安全机制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B579C-9105-43FE-A25B-9F433FE3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62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CD2CD"/>
                </a:solidFill>
                <a:latin typeface="Arial Unicode MS"/>
                <a:ea typeface="Arial Unicode MS"/>
                <a:cs typeface="Arial Unicode MS"/>
              </a:rPr>
              <a:t>极端情况下保留最终人工控制。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A5F48-FAA2-4EF6-8CA9-822B2E3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733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22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2FF75-E329-4E48-A055-8F07E0DD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DDD0B-499F-4421-AEBF-AA4EC01E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算法负责输出结果；系统负责呈现状态和约束；现场人员保留确认与接管责任。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63838-6D6E-4FB7-89A4-4A231DEE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733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40328-AA84-4D71-88FC-BD78204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A4C5D-83B4-483D-A7E9-7867277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中度接管没有完整上线，因此只作为设计边界展示，不计入项目交付成果。</a:t>
            </a:r>
          </a:p>
        </p:txBody>
      </p:sp>
    </p:spTree>
    <p:extLst>
      <p:ext uri="{BB962C8B-B14F-4D97-AF65-F5344CB8AC3E}">
        <p14:creationId xmlns:p14="http://schemas.microsoft.com/office/powerpoint/2010/main" val="5960684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65D4E-E081-4F88-91BB-9AE4490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05 / CASE 01 · INDUSTRIAL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1335D-DD1D-42D3-9D97-F1C2604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13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2FDF6-2DD4-4620-AADE-BAA30124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427AC-14FC-484E-8CE7-7A38F0CF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11 个核心模块完成上线验收。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48B65-15BE-4009-830A-459C77E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结果页只保留能够解释来源和归因边界的内容。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4492E-8F24-4969-8100-EF643DB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0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CBB05-FF77-4D76-8A3B-0919E6B1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核心模块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2956A-BDF7-4203-BB86-8FF1511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检测 / 统计 / 日志 / 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87FB2-09FA-4F27-A36F-54E8DBA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209800"/>
            <a:ext cx="330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22E05-2079-4CF8-9A9C-A66BB87D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7241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工业相机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803EC-1E14-42CF-8621-B97F7C2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31432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统一进入 HMI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44F9-5306-46C0-8ED1-C9B486C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2209800"/>
            <a:ext cx="330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A66B-97F3-4F47-9DB3-4550D8B9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27241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现场角色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4437D-6D98-40B2-B331-07951F0D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3143250"/>
            <a:ext cx="330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权限范围分离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40DAC-C092-487F-835E-F70FE75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08E9B-0FFA-4B58-ACC6-6E897E52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CONTRIBUTION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69AC3-1627-4A0F-BE69-7F147EFC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04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Miki 主导功能梳理、信息架构、UI/UX、状态和权限规则，并协同算法、开发、硬件和客户团队完成落地。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BB70C-8474-4E94-902F-B80018D3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562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AEA14-B4C5-4A8B-B4D5-E992BD4C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05A9B-E2D7-42D3-A6EF-5B68D16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181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误操作率约下降 20% 仅作为前后方案与项目测试的预估结果，不等同于长期生产统计。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AD38F-A035-4FCB-8A48-7D3C5C84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中度人工复判未完整上线，不计入项目交付成果。</a:t>
            </a:r>
          </a:p>
        </p:txBody>
      </p:sp>
    </p:spTree>
    <p:extLst>
      <p:ext uri="{BB962C8B-B14F-4D97-AF65-F5344CB8AC3E}">
        <p14:creationId xmlns:p14="http://schemas.microsoft.com/office/powerpoint/2010/main" val="1805685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D144F-088C-46D9-82B5-95AC9114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3E394-83ED-41B9-A56E-548E8C4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14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7DDF1-DFCC-4D7D-96BD-001E135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46624-5824-4678-A263-537E6B8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PCBA：在存量系统和真实产线中完成可上线重构。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7F944-383C-47F8-B918-7CDB3C56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核心设计约 2—3 个月 · 设计负责人 · 系统已上线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9E4C-3432-410C-826D-FD86C293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1B69A-1BAC-4E27-ABF2-DA72F7A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保留现场已经形成的底层操作逻辑，只重构物料、任务、预警和高风险操作等关键路径。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51F5F-BEDB-4A4B-9713-ADC7E45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61F43-C0EA-4456-9D4F-5F9801EC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设计负责人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53DCD-B287-4AF2-921E-577818CE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EBDB8-3A9D-4484-9A1A-1AB1F836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PCBA 产线控制系统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63A5E-8B67-482F-BBC7-CB4DB8A1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0ED9B-0A8C-465A-9735-EB671C9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12 位操作员与组长 A/B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9694A-F0DF-4960-8922-E47656E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上线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FBC4F-FE93-4898-A801-1B1F9BDC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90+ 订单 / 80+ 反馈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9e44e9f1d45e8"/>
          <a:stretch xmlns:a="http://schemas.openxmlformats.org/drawingml/2006/main"/>
        </p:blipFill>
        <p:spPr>
          <a:xfrm xmlns:a="http://schemas.openxmlformats.org/drawingml/2006/main">
            <a:off x="5962650" y="20764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4CE4F-8FB9-4727-BB25-2CDA4FC1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观看重点｜主界面集中呈现产线进度、机台状态、订单和操作控制。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E901C-0C30-4D89-9243-7B61F983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项目整体周期资料冲突，因此正文只写核心设计周期。</a:t>
            </a:r>
          </a:p>
        </p:txBody>
      </p:sp>
    </p:spTree>
    <p:extLst>
      <p:ext uri="{BB962C8B-B14F-4D97-AF65-F5344CB8AC3E}">
        <p14:creationId xmlns:p14="http://schemas.microsoft.com/office/powerpoint/2010/main" val="1166056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6BDA8-8E20-48A2-B260-07EBF2BE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7B355-E478-4C16-B516-587AABD4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15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86F93-24DE-4F37-8F00-14D83D0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F667A-DD4E-4DFA-9271-C61BDC79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旧系统、研发排期和生产风险限制了设计自由度。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30913-63DC-44B1-9F39-D948E0E0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真正的设计范围不是任意创新，而是在可实现和不打断生产之间做选择。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228C8-DBAA-4FE2-ADA6-9518CCE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8E6F8-D474-4ED1-B2C9-2010D6DC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进口控制系统长期闲置，但一线人员对既有逻辑已经形成肌肉记忆。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01D0A-0BA1-4DF5-8AEE-FC3821BA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8AFAC-7AB9-4AED-BA2F-ED2E4618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全部替换会增加培训成本和误操作风险。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721E-DB26-483E-9107-15BDE6C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93FBF-B62C-4399-BB72-4345AA94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交互复杂度与研发排期强耦合。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74EA0-0AAD-4837-9DAA-A452567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203DE-C7B5-49C6-820A-50B69C4B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系统直连产线，高风险动作必须校验和兜底。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f5fa95fa84b62"/>
          <a:stretch xmlns:a="http://schemas.openxmlformats.org/drawingml/2006/main"/>
        </p:blipFill>
        <p:spPr>
          <a:xfrm xmlns:a="http://schemas.openxmlformats.org/drawingml/2006/main">
            <a:off x="5959192" y="2076450"/>
            <a:ext cx="4731316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BEDDF-E55D-4A58-9F1A-105DFCB3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观看重点｜旧界面证明存量结构和现场路径依赖；最终方案没有简单推倒重来。</a:t>
            </a:r>
          </a:p>
        </p:txBody>
      </p:sp>
    </p:spTree>
    <p:extLst>
      <p:ext uri="{BB962C8B-B14F-4D97-AF65-F5344CB8AC3E}">
        <p14:creationId xmlns:p14="http://schemas.microsoft.com/office/powerpoint/2010/main" val="15869201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E512B-3E94-45C4-8286-0463AACD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B6833-CF68-49E8-8F2C-5685255A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16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D5276-6B42-4A45-86D1-E33FF9F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6318-FADD-436D-AD20-4E0055AC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现场任务是连续的，原系统却把它们拆散。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1ED5D-A335-4025-B1F7-BAEF9AD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现场观察与用户旅程显示：物料选择、孔位确认和在制状态需要在同一任务上下文中完成。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7F9B0-EEBA-4515-AEB4-C06BE07E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WORKFLOW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267D8-8B9C-40F1-96C6-265F311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关键判断：保留底层控制逻辑，重构任务之间的连接方式。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DB56-7254-4E4B-B88B-E1A3266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368FD-5D39-46BB-AF7B-4C3827B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把跨页面确认合并为连续任务路径。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5008C-A2AC-4EB8-A167-7B68AB9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A3B4D-1E57-493A-AD62-C3A3ECA8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把依赖人工巡检的异常转成数字预警。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9CD8C-80E0-4DF4-88D9-7A3B894E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F06F8-2B8A-4DAB-8730-E9350130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把高风险动作纳入权限、确认和审计。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3512c2f654ddf"/>
          <a:stretch xmlns:a="http://schemas.openxmlformats.org/drawingml/2006/main"/>
        </p:blipFill>
        <p:spPr>
          <a:xfrm xmlns:a="http://schemas.openxmlformats.org/drawingml/2006/main">
            <a:off x="6002406" y="2076450"/>
            <a:ext cx="4644888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B7C18-AE96-43DE-BC64-E404C53D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观看重点｜旅程图连接用户动作、痛点和解决方案，避免只从页面层面修补旧系统。</a:t>
            </a:r>
          </a:p>
        </p:txBody>
      </p:sp>
    </p:spTree>
    <p:extLst>
      <p:ext uri="{BB962C8B-B14F-4D97-AF65-F5344CB8AC3E}">
        <p14:creationId xmlns:p14="http://schemas.microsoft.com/office/powerpoint/2010/main" val="10012452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3B9C9-380D-4FC4-A60A-223B54DE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8819-2571-438E-A3F0-15C03811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17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D7858-E249-4907-9F51-F7B9C46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18F8F-B76F-4AF9-BC90-16445016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集中监控让管理者直接看到进度、状态和异常。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27EC5-AABA-4D0F-B00F-E12F5E8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过去需要翻日志和询问现场；现在从统一入口判断产线运行和处理优先级。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4a78ca0044a0e"/>
          <a:stretch xmlns:a="http://schemas.openxmlformats.org/drawingml/2006/main"/>
        </p:blipFill>
        <p:spPr>
          <a:xfrm xmlns:a="http://schemas.openxmlformats.org/drawingml/2006/main">
            <a:off x="3139440" y="2038350"/>
            <a:ext cx="5913120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BD08-D5D9-40CA-8255-D9CDD0E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观看重点｜产线进度、机台状态、订单和操作控制被收敛到一个管理视野。</a:t>
            </a:r>
          </a:p>
        </p:txBody>
      </p:sp>
    </p:spTree>
    <p:extLst>
      <p:ext uri="{BB962C8B-B14F-4D97-AF65-F5344CB8AC3E}">
        <p14:creationId xmlns:p14="http://schemas.microsoft.com/office/powerpoint/2010/main" val="5701801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4B22F-FD92-4E21-98AA-CF95696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5F86D-2B99-4051-A1A6-023E34A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18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19FCB-7BAB-4D27-9B3C-D52D2CF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CCCFC-6ED8-4E3F-99F1-FB20C6E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物料选择与孔位确认被合并为连续操作。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D9407-C6AE-4DA1-9CED-DBCA6FB5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流程重构减少跨界面确认，同时保留操作员熟悉的底层作业逻辑。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C3426-C219-42A3-B734-283EBE01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TASK REDESIGN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728DA-7E92-42AE-98DD-797B81A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物料、孔位和在制状态不再分散在机台端与后台系统。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0002-8B33-457E-A33E-3940601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FAF3-1353-4F5D-80C8-CD0C9B17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同一任务路径完成选择、确认和状态查看。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31449-A98F-4626-A44F-2476F8C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5DE55-437D-49F2-82E0-66E1B33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异常物料直接进入当前任务上下文。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77115-B78D-48BA-A8AC-2A07D1C7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F8619-0C6E-4029-90C8-E2804AC7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工程资料沉淀为可复用配置资产。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de87815334da6"/>
          <a:stretch xmlns:a="http://schemas.openxmlformats.org/drawingml/2006/main"/>
        </p:blipFill>
        <p:spPr>
          <a:xfrm xmlns:a="http://schemas.openxmlformats.org/drawingml/2006/main">
            <a:off x="5414010" y="2076450"/>
            <a:ext cx="5821680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7BD34-CF48-4ED2-9DBA-79B062F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观看重点｜界面把物料信息、在制状态、异常提示和操作入口组织在同一上下文。</a:t>
            </a:r>
          </a:p>
        </p:txBody>
      </p:sp>
    </p:spTree>
    <p:extLst>
      <p:ext uri="{BB962C8B-B14F-4D97-AF65-F5344CB8AC3E}">
        <p14:creationId xmlns:p14="http://schemas.microsoft.com/office/powerpoint/2010/main" val="1314560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09D90-2031-4B48-A434-8C63DC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312FB-AD1C-4C8C-AA87-39679B8A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19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0BB73-2108-4143-AF63-80EEA0A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B6C72-B69C-4C28-8CE4-48D9E0A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异常和高风险动作进入数字预警与权限校验。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D94A0-C425-46D8-8902-41A911B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异常不再依赖红黄灯和人工巡检；越权写入需要被系统拦截并留下记录。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35f47da3347fd"/>
          <a:stretch xmlns:a="http://schemas.openxmlformats.org/drawingml/2006/main"/>
        </p:blipFill>
        <p:spPr>
          <a:xfrm xmlns:a="http://schemas.openxmlformats.org/drawingml/2006/main">
            <a:off x="714375" y="2095500"/>
            <a:ext cx="50292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0E9BA-BA78-41DD-96FE-DEA7B0DB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分层数字预警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F3E92-22FB-45D0-8AF0-9BCFFF82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观看重点｜异常类型、设备状态和处理优先级同时可见，帮助现场先处理高风险问题。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a8dc2a271463e"/>
          <a:stretch xmlns:a="http://schemas.openxmlformats.org/drawingml/2006/main"/>
        </p:blipFill>
        <p:spPr>
          <a:xfrm xmlns:a="http://schemas.openxmlformats.org/drawingml/2006/main">
            <a:off x="6296025" y="2095500"/>
            <a:ext cx="50292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2DF35-C429-481E-B611-47F4F12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角色与权限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2D2D-1CA8-431A-9573-E1BAE14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观看重点｜不同角色进入不同操作范围；高风险动作增加权限校验和审计日志。</a:t>
            </a:r>
          </a:p>
        </p:txBody>
      </p:sp>
    </p:spTree>
    <p:extLst>
      <p:ext uri="{BB962C8B-B14F-4D97-AF65-F5344CB8AC3E}">
        <p14:creationId xmlns:p14="http://schemas.microsoft.com/office/powerpoint/2010/main" val="1890946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95D91-0376-4585-BBEF-EEE7DF8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E94E0-D551-4AB4-8A1A-AF0A829A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20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3193-DEBF-4F0B-902E-986F385F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2250-2AE2-4369-803A-9C90D71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A/B 测试比较的是读取和操作效率。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8054-3F2B-498C-96FE-C328497E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12 位操作员与组长参与；测试关注布局、读取、操作路径和高风险场景，不把偏好当成结果。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7435d31624c6c"/>
          <a:stretch xmlns:a="http://schemas.openxmlformats.org/drawingml/2006/main"/>
        </p:blipFill>
        <p:spPr>
          <a:xfrm xmlns:a="http://schemas.openxmlformats.org/drawingml/2006/main">
            <a:off x="609600" y="2192943"/>
            <a:ext cx="5238750" cy="2948363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0619E-0A48-4FC8-9FA9-8C179911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A/B 可用性测试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F44B9-5C9F-4A40-AE5F-4F5896C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观看重点｜比较竖版与横版在工业屏幕视距、信息读取和操作效率上的差异。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48c13d9df40bb"/>
          <a:stretch xmlns:a="http://schemas.openxmlformats.org/drawingml/2006/main"/>
        </p:blipFill>
        <p:spPr>
          <a:xfrm xmlns:a="http://schemas.openxmlformats.org/drawingml/2006/main">
            <a:off x="6191250" y="2192943"/>
            <a:ext cx="5238750" cy="2948363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2D1FE-084B-4755-A518-D5E36BE5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竞品与首版范围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917EA-E412-4E38-8AB1-69AE394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观看重点｜对标行业方案，并结合现场频率与上线风险决定首版核心能力。</a:t>
            </a:r>
          </a:p>
        </p:txBody>
      </p:sp>
    </p:spTree>
    <p:extLst>
      <p:ext uri="{BB962C8B-B14F-4D97-AF65-F5344CB8AC3E}">
        <p14:creationId xmlns:p14="http://schemas.microsoft.com/office/powerpoint/2010/main" val="4857844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BE5CE-FC95-4338-908E-71FD1F82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06 / CASE 02 · PCBA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92512-3E6B-4C92-861C-8A8783C4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21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44B7C-C544-4088-B258-1C70C4D9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7A36A-055C-4BE2-A8B4-A1EDFEE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上线结果属于项目整体，设计贡献有明确边界。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1F0F-66DD-4C3C-9D6B-DA01060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订单、反馈和效率数据用于说明项目经过验证，不把算法、设备和运营变化全部归因于设计。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3E7FB-23A1-4EBA-8097-FC366AAA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90+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3ACE4-A90D-47C3-BB11-3B356B6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真实产线订单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CB1BD-11EE-42F7-8D34-CD388D28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上线验证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3F254-7171-4233-BC70-6C8DE2D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80+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101E2-FBD1-4F02-8E46-EDD7CF4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一线反馈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F65F8-DCB5-4A26-AD12-3EFF4CEB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进入后续迭代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DFB71-92E4-4C87-9770-8FFC7E8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+28%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5CAA0-1562-424F-87AF-2720CDD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管理效率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2924F-7F51-4432-B52D-1CDD31C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项目整体预估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D08E9-1E6A-405A-B5D4-BB185121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+17%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187E3-F559-41F6-BB80-1AE2F572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插件效率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4CC8D-4918-4EAC-9C21-494DB8C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项目整体预估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332BD-BD3F-4FE1-9134-F405E559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2C8AD-6ACD-413A-A900-F6EF611A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CONTRIBUTION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2CF0F-623C-4300-A815-492D35C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04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其他项目整体预估结果：人工介入率降低 10%，工程导入耗时降低 17%。Miki 的可归因贡献是流程、界面、状态、权限、测试和交付规范。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06E60-B024-4F0F-8BC2-BD989C8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562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2E0FC-930C-4E34-949B-E6FF87B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A15E6-19AA-416D-80C9-11C37EF6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181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所有效率数字均基于前后方案与测试对比，不解释为单由界面设计直接造成。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259FB-F554-4284-BC40-3DF8F23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系统已上线；90+ 订单和 80+ 反馈为项目验证口径。</a:t>
            </a:r>
          </a:p>
        </p:txBody>
      </p:sp>
    </p:spTree>
    <p:extLst>
      <p:ext uri="{BB962C8B-B14F-4D97-AF65-F5344CB8AC3E}">
        <p14:creationId xmlns:p14="http://schemas.microsoft.com/office/powerpoint/2010/main" val="10132685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5BFA1-2BD6-4EB1-9CE7-3DB172A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0CBC-0CB5-4C73-8FE6-9F7A42DB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22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DEB40-861F-4466-BAC0-B034C896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01EE-6EC1-44E2-91ED-FE7252DD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WMS：Miki 主导 RF，并协作 Web 端交付。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67632-CE33-4AB3-8179-746A803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两位设计师参与 · Web 与 RF 均已上线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25A5-D980-44F0-B22F-CA4D401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8AAB9-197B-41B3-A1EF-660A84B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将多客户、多仓库、多作业流程拆成 Web 配置查询与 RF 现场任务，并沉淀为可复用的双端交付资产。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4ABE-91F2-47F8-B674-557DDEAF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D77F1-E364-4410-A55D-EB09171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RF 端主导 / Web 端协作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1C262-846C-4197-8472-8ECB27D4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团队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7290E-90CE-4B64-992C-8502044D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两位设计师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4455D-9A1C-4274-895F-D857A739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054E-1D16-4176-BC50-04074171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双端流程 / 权限 / 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2EF05-6704-415A-8476-19B69AD3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4DCC-96A3-4BA1-B29E-0946CE1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 + RF 已上线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a59bcead84299"/>
          <a:stretch xmlns:a="http://schemas.openxmlformats.org/drawingml/2006/main"/>
        </p:blipFill>
        <p:spPr>
          <a:xfrm xmlns:a="http://schemas.openxmlformats.org/drawingml/2006/main">
            <a:off x="6129338" y="2076450"/>
            <a:ext cx="5000625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9D97E-3388-45EA-87F8-12AFDAE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观看重点｜项目开场展示双端形态；后续页面分别证明 Web 模板和 RF 现场流程。</a:t>
            </a:r>
          </a:p>
        </p:txBody>
      </p:sp>
    </p:spTree>
    <p:extLst>
      <p:ext uri="{BB962C8B-B14F-4D97-AF65-F5344CB8AC3E}">
        <p14:creationId xmlns:p14="http://schemas.microsoft.com/office/powerpoint/2010/main" val="1558551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97E0FF-A9DA-46E9-8F03-2C63872B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E233C-2AED-42CD-9B54-2E9F545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23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45DBD-C669-49D0-8FD1-DA0680F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7CCE-41BC-4956-99A4-60DECE8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 与 RF 服务不同任务密度。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334B2-A8DE-4AEA-832B-5960108A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Web 承载配置、查询和高密度表格；RF 服务扫码、核对、异常和提交。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bf7850c744ba"/>
          <a:stretch xmlns:a="http://schemas.openxmlformats.org/drawingml/2006/main"/>
        </p:blipFill>
        <p:spPr>
          <a:xfrm xmlns:a="http://schemas.openxmlformats.org/drawingml/2006/main">
            <a:off x="1726974" y="2095500"/>
            <a:ext cx="3004002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FC63D-993A-47F7-852F-E301C1B1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 管理端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985A9-BDEC-408B-B4E2-739F853E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观看重点｜需要全局查询、字段配置、表格和多仓库信息，因此保留更高信息密度。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19516d42d4f9e"/>
          <a:stretch xmlns:a="http://schemas.openxmlformats.org/drawingml/2006/main"/>
        </p:blipFill>
        <p:spPr>
          <a:xfrm xmlns:a="http://schemas.openxmlformats.org/drawingml/2006/main">
            <a:off x="7926116" y="2095500"/>
            <a:ext cx="1769018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933AC-5139-44FD-98B5-5AA89DB8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RF 现场端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79EC7-8D2B-42C2-8214-AE0C1FEE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观看重点｜只暴露当前动作所需字段和扫码入口，降低单手操作中的理解与误触成本。</a:t>
            </a:r>
          </a:p>
        </p:txBody>
      </p:sp>
    </p:spTree>
    <p:extLst>
      <p:ext uri="{BB962C8B-B14F-4D97-AF65-F5344CB8AC3E}">
        <p14:creationId xmlns:p14="http://schemas.microsoft.com/office/powerpoint/2010/main" val="19823647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DC9A6-FB20-49D2-B4BE-8C79A4D7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4D762-C63B-4ACF-B166-AE32234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24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480EA-34BF-4C0C-99CF-2DFD894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6D05E-5F14-4A0B-9633-0A2F577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 模板矩阵减少重复页面设计。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58ED2-6A2F-4C3E-8F07-4ED7AAE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标准化不是追求 100% 配置化；高频标准场景组合交付，非标业务保留扩展入口。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029f0a58d44e4"/>
          <a:stretch xmlns:a="http://schemas.openxmlformats.org/drawingml/2006/main"/>
        </p:blipFill>
        <p:spPr>
          <a:xfrm xmlns:a="http://schemas.openxmlformats.org/drawingml/2006/main">
            <a:off x="2862855" y="2038350"/>
            <a:ext cx="6466291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7CC9-486D-425F-A647-41B87C9F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观看重点｜列表、弹窗、表单区块、侧边导航和字段排列规则被整理成可复用页面骨架。</a:t>
            </a:r>
          </a:p>
        </p:txBody>
      </p:sp>
    </p:spTree>
    <p:extLst>
      <p:ext uri="{BB962C8B-B14F-4D97-AF65-F5344CB8AC3E}">
        <p14:creationId xmlns:p14="http://schemas.microsoft.com/office/powerpoint/2010/main" val="5577485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C5106-A202-4B66-B790-6846C84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DCB5B-FB87-4178-80C8-85646BC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25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0FCFB-B52C-4D01-8E0E-45CC4898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027F0-3AF2-4F2D-95AC-BA361B68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RF 只显示当前动作所需的信息。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DCD8C-366E-4A5A-A646-5C8ED04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照搬 Web 结构会让手持机过载，增加现场核对和单手扫码的成本。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48CAF-F604-4247-847F-61273E68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RF TASK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F1ED-A541-4760-9433-DB9E40A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RF 的信息架构围绕当前任务，而不是围绕后台模块。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1EC27-030F-4DFF-B238-F59A412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A5274-D17E-4F05-A027-252A638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待办入口减少多层级查找。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35E45-2F12-4EDA-B15B-DC96B3B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30EA6-2E2A-4DA1-91E8-143097EA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扫码后只显示核对与提交所需字段。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3D717-BF49-4B34-93AE-EFA3CF3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178C9-339C-4143-A7EA-A277D73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异常和修改按需展开，不占用正常流程。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88cce962c4e39"/>
          <a:stretch xmlns:a="http://schemas.openxmlformats.org/drawingml/2006/main"/>
        </p:blipFill>
        <p:spPr>
          <a:xfrm xmlns:a="http://schemas.openxmlformats.org/drawingml/2006/main">
            <a:off x="7300964" y="2076450"/>
            <a:ext cx="2047772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52BBA-3547-4D3A-A0DD-0417151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观看重点｜屏幕优先呈现任务对象、数量、异常状态和下一步动作。</a:t>
            </a:r>
          </a:p>
        </p:txBody>
      </p:sp>
    </p:spTree>
    <p:extLst>
      <p:ext uri="{BB962C8B-B14F-4D97-AF65-F5344CB8AC3E}">
        <p14:creationId xmlns:p14="http://schemas.microsoft.com/office/powerpoint/2010/main" val="5368582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F0EDE-CDBA-4EF9-B222-F766F0B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D9BB-79C3-4C2A-96BD-7DF64792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26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FAF17-D10A-428C-A757-D67B172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20543-E36D-4352-AE1A-8CBBB477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四种收货模式共享组件，但不共享同一流程节奏。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02BAD-978D-45E1-8C91-11F60C90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待办、标准收货、按箱和按单模式使用统一组件外壳，再按业务复杂度组合字段与步骤。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9dd95b985439c"/>
          <a:stretch xmlns:a="http://schemas.openxmlformats.org/drawingml/2006/main"/>
        </p:blipFill>
        <p:spPr>
          <a:xfrm xmlns:a="http://schemas.openxmlformats.org/drawingml/2006/main">
            <a:off x="2812679" y="2038350"/>
            <a:ext cx="6566642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098B-8CE1-43B6-90BF-75AAFA23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观看重点｜复用的是导航、字段和反馈组件；不同模式根据任务深度保留不同确认步骤。</a:t>
            </a:r>
          </a:p>
        </p:txBody>
      </p:sp>
    </p:spTree>
    <p:extLst>
      <p:ext uri="{BB962C8B-B14F-4D97-AF65-F5344CB8AC3E}">
        <p14:creationId xmlns:p14="http://schemas.microsoft.com/office/powerpoint/2010/main" val="1118907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16870-C045-4F09-B967-898ABD5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4FF4A-1DB8-4DFC-BF8A-C6315384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27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FFFC-5F43-4E11-B06C-741CB2F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6B1D3-65AC-48C1-8148-0865D2B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操作阻力必须匹配风险。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72EDD-D4F7-4883-9B64-D6D1E05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轻流程快确认，重流程强校验；删除、修改等危险动作增加防误触、二次确认和结果反馈。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f33e6e8ef4c56"/>
          <a:stretch xmlns:a="http://schemas.openxmlformats.org/drawingml/2006/main"/>
        </p:blipFill>
        <p:spPr>
          <a:xfrm xmlns:a="http://schemas.openxmlformats.org/drawingml/2006/main">
            <a:off x="2286000" y="2095500"/>
            <a:ext cx="18859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DC5EA-122C-4454-9A90-F8F2FADF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任务核对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9B1AA-13E9-4056-9A5E-E041243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观看重点｜低风险操作减少停顿；需要修改时再展开明细和数量确认。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2859d5e244d26"/>
          <a:stretch xmlns:a="http://schemas.openxmlformats.org/drawingml/2006/main"/>
        </p:blipFill>
        <p:spPr>
          <a:xfrm xmlns:a="http://schemas.openxmlformats.org/drawingml/2006/main">
            <a:off x="7897332" y="2095500"/>
            <a:ext cx="1826586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62FDA-84D3-4C99-A37A-47AAE39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危险操作反馈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D3CE8-9B00-4EA9-A05F-3F12BC2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观看重点｜滑动防误触、二次确认和 Toast 结果反馈共同降低库存数据风险。</a:t>
            </a:r>
          </a:p>
        </p:txBody>
      </p:sp>
    </p:spTree>
    <p:extLst>
      <p:ext uri="{BB962C8B-B14F-4D97-AF65-F5344CB8AC3E}">
        <p14:creationId xmlns:p14="http://schemas.microsoft.com/office/powerpoint/2010/main" val="15120696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AAD13-0560-4AFE-8551-51478A75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3F8F9-C673-4DA8-A38F-254DDBC9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28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3B06B-6E5D-4C57-9218-912A3DCC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A0D49-8991-4AF7-967C-8A24B8A0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权限控制在菜单、用户和仓库三层。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82063-503D-4ABF-915A-198DB80D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按钮级权限带来高配置、高测试成本；三层模型守住数据边界，同时控制多客户交付复杂度。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59e7220264625"/>
          <a:stretch xmlns:a="http://schemas.openxmlformats.org/drawingml/2006/main"/>
        </p:blipFill>
        <p:spPr>
          <a:xfrm xmlns:a="http://schemas.openxmlformats.org/drawingml/2006/main">
            <a:off x="609600" y="2170339"/>
            <a:ext cx="5238750" cy="2993571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EE0F1-2070-4A4C-9140-2645143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共享设计系统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FC9B7-9667-449A-965D-695F1EB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观看重点｜统一字体、颜色、状态、组件与反馈语义，支持 Web 与 RF 多端交付。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2fd9eeb3e4bb7"/>
          <a:stretch xmlns:a="http://schemas.openxmlformats.org/drawingml/2006/main"/>
        </p:blipFill>
        <p:spPr>
          <a:xfrm xmlns:a="http://schemas.openxmlformats.org/drawingml/2006/main">
            <a:off x="7650040" y="2095500"/>
            <a:ext cx="2321169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2E197-48C6-4564-A168-C695B41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权限与交付规则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2AA8C-F210-4E38-BDF3-1D87AECA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观看重点｜菜单可见、用户范围和仓库数据隔离成为可实现、可测试的规则。</a:t>
            </a:r>
          </a:p>
        </p:txBody>
      </p:sp>
    </p:spTree>
    <p:extLst>
      <p:ext uri="{BB962C8B-B14F-4D97-AF65-F5344CB8AC3E}">
        <p14:creationId xmlns:p14="http://schemas.microsoft.com/office/powerpoint/2010/main" val="1652262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B46E6-9A94-41ED-8BA9-54EA5A6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07 / CASE 03 ·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9CA65-F9A4-4C70-BCD1-B85F0B7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29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6BB9E-7F66-4B94-BC6F-F8DDA76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5B39-802C-4327-8C8F-0CDFC1C5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Web、RF 和规范均已交付上线。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5F915-6D65-4F2D-8E5D-4D5CDE76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交付规模来自当前项目交付页；没有独立上线后效率统计，因此不补充未经验证的提升百分比。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9E09A-977A-48A5-8796-5480D7A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DF60-0B64-4AE3-9AF6-FD261525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Web 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F7F52-1CF8-41BB-87A7-CD86009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当前交付记录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1CBD2-5115-4314-B150-E39F6E9C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48+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9C8C4-4B12-484A-BBF9-149C439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弹窗 / 小窗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88F97-425F-4B20-8E9F-E855DC41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当前交付记录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02782-97B3-4749-9FA1-B44FFF9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0E71D-73BB-4400-ADF8-EAE3C8FD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RF 收货模式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7F6BB-452A-4714-A9C6-935165CF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已落地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35411-6DC1-4C2D-9F2F-3B72AD4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13213-3FE3-432A-BECF-37BEE13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241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上线状态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BAD82-C287-48FA-8517-B56C4C0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432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Web + RF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18975-0B06-41AF-B811-2AC2ABE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08AFC-857D-4BCC-AF5B-D7153F8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CONTRIBUTION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124AB-E411-498B-AF48-5BD3337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04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Miki 主导 RF 端任务、模式、反馈和权限，并参与 Web 模板资产；另一位设计师共同完成双端交付。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AC22D-022C-4565-AD25-8F12C7C5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562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8E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543F4-722C-4617-B9A5-9AF62DC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63682-40F3-4F17-8085-7D78B8E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181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项目价值是降低后续多客户交付中的重复设计和沟通成本，不把整个 WMS 写成个人独立完成。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F2C7A-E8D7-4F28-ACF8-805A80D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复用价值为交付层面的定性结果。</a:t>
            </a:r>
          </a:p>
        </p:txBody>
      </p:sp>
    </p:spTree>
    <p:extLst>
      <p:ext uri="{BB962C8B-B14F-4D97-AF65-F5344CB8AC3E}">
        <p14:creationId xmlns:p14="http://schemas.microsoft.com/office/powerpoint/2010/main" val="9385205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34F00-6434-4885-B986-6CA5B22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F0396-D76B-4D39-9096-7720B15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30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B92EC-FCCB-4932-AE0E-D0490D20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543D2-D8C2-4132-8E01-8AB6F1C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5G 消息项目同时证明移动体验和团队影响力。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08390-E7D4-4F4B-9271-9D881F15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用户体验经理 · 管理 2 名设计师 · 15 人产品部门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D86D-466E-4F5F-8FA6-AED1715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577E5-86C7-457F-935E-245DC62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在手机原生短信入口和安卓设备差异下，建立跨设备可复用的交互与视觉规范，并通过评审、培训和质量标准推动团队应用。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0947F-8C06-4F5F-8CD0-D9B9CE96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84F77-EAA9-4B16-A302-DF653AE9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用户体验经理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614D1-B684-4A82-88D3-771CD1A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核心项目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4A03C-0968-4307-A6EA-7D71884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4 个 5G 消息项目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D9BD7-CCFC-46E8-9F0B-11AA230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团队影响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9CB2D-64F2-43CE-B7F0-30E76BF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40+ 培训 / 15 人部门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94B85-0865-4A83-A3B1-8932565E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A1C8F-280A-4FC4-BC17-B127E679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相关项目获 3 项行业奖项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39554ec5c48bf"/>
          <a:srcRect xmlns:a="http://schemas.openxmlformats.org/drawingml/2006/main" l="152" t="0" r="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076450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47AFF-7B76-43EB-BBAB-CEC8762C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观看重点｜开场图说明原生短信中的移动端使用场景；后续用规范和团队材料证明贡献。</a:t>
            </a:r>
          </a:p>
        </p:txBody>
      </p:sp>
    </p:spTree>
    <p:extLst>
      <p:ext uri="{BB962C8B-B14F-4D97-AF65-F5344CB8AC3E}">
        <p14:creationId xmlns:p14="http://schemas.microsoft.com/office/powerpoint/2010/main" val="993685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9E8BC-6B3C-4274-8F1C-C3B88A23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6CAB-C367-44DA-8C1B-16AE479D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31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A4CA9-E347-4F88-976C-DCD137F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9396-4B5E-474A-A3FB-9EEB1F3C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原生短信入口让交互容错空间极小。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4F917-4FAC-48F8-B763-E3F27E0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不能像 App 一样自由使用控件或精准控制版本，设计必须兼顾线性流程、设备差异和跨度很大的用户。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BD7CD-CDAD-473B-A119-C9137DB0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4F0FA-3568-4209-9628-1C991F0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三个问题共同要求方案克制：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CF1F3-96A5-4BEF-8EE1-68086EB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DAB75-E7BD-4BBC-AE21-207A873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“1-1-1”单线流程，用户只能逐步推进。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996CD-65C5-4B14-8495-660D777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40DA7-B376-4646-BFCE-22AD9483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安卓厂商渲染差异大，无法按版本精确下发。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7AD1D-9A77-4AF0-994F-E13832EE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05881-DFB7-4BA4-A1A4-0277C71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用户从学生到政务人员，认知模型差异明显。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2242383034b76"/>
          <a:stretch xmlns:a="http://schemas.openxmlformats.org/drawingml/2006/main"/>
        </p:blipFill>
        <p:spPr>
          <a:xfrm xmlns:a="http://schemas.openxmlformats.org/drawingml/2006/main">
            <a:off x="6778466" y="2076450"/>
            <a:ext cx="3092768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BF36A-CEFF-4C93-B56E-1C74B678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观看重点｜移动端交互必须在系统原生能力和跨设备限制内完成，不能照搬 App 组件。</a:t>
            </a:r>
          </a:p>
        </p:txBody>
      </p:sp>
    </p:spTree>
    <p:extLst>
      <p:ext uri="{BB962C8B-B14F-4D97-AF65-F5344CB8AC3E}">
        <p14:creationId xmlns:p14="http://schemas.microsoft.com/office/powerpoint/2010/main" val="14527574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E789A-722D-4ACA-A7E9-F6AF99B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9847C-CEC8-43D1-BC64-43B30E7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32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3B993-283C-4E68-81F9-9CB3116E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9FFBB-BF5A-4FB9-ACC5-476ED88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规范以跨设备“最小公约数”为基准。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A49B9-E802-4750-8749-1BCDEFE1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放弃单设备上的完美视觉，统一安全区、色彩对比、系统字体、图片裁切和消息卡片规则。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a5289c7c54785"/>
          <a:stretch xmlns:a="http://schemas.openxmlformats.org/drawingml/2006/main"/>
        </p:blipFill>
        <p:spPr>
          <a:xfrm xmlns:a="http://schemas.openxmlformats.org/drawingml/2006/main">
            <a:off x="2808846" y="2038350"/>
            <a:ext cx="6574307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257A-7910-49E2-A193-69696CA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观看重点｜这张规范图证明跨设备适配、消息卡片、按钮、安全区和视觉规则被整理为可复用资产。</a:t>
            </a:r>
          </a:p>
        </p:txBody>
      </p:sp>
    </p:spTree>
    <p:extLst>
      <p:ext uri="{BB962C8B-B14F-4D97-AF65-F5344CB8AC3E}">
        <p14:creationId xmlns:p14="http://schemas.microsoft.com/office/powerpoint/2010/main" val="17641782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B8F96-AA3C-4BD2-A8F9-6507EAA4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943A7-0DA4-4580-9BEE-B7207893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33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0D141-8670-41A9-A3B9-54FC298F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4FE70-2C7D-41DD-B130-B028BA7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线性流程需要把复杂业务拆成单步选择。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EA7E0-1172-4303-A14D-FC1F00F4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交互策略不是让用户失去思考，而是在容错空间极小的入口中，每一步只保留当前决策所需信息。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69b92991247fb"/>
          <a:stretch xmlns:a="http://schemas.openxmlformats.org/drawingml/2006/main"/>
        </p:blipFill>
        <p:spPr>
          <a:xfrm xmlns:a="http://schemas.openxmlformats.org/drawingml/2006/main">
            <a:off x="1893094" y="2095500"/>
            <a:ext cx="2671763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57E86-1950-4B72-A5FB-D2443613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标准业务流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4BD5E-7585-4A32-A73A-8016E408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观看重点｜将复杂业务拆为顺序明确的单步选择，减少线性链路中的返回和误操作。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bc995daab4c29"/>
          <a:stretch xmlns:a="http://schemas.openxmlformats.org/drawingml/2006/main"/>
        </p:blipFill>
        <p:spPr>
          <a:xfrm xmlns:a="http://schemas.openxmlformats.org/drawingml/2006/main">
            <a:off x="6191250" y="2170339"/>
            <a:ext cx="5238750" cy="2993571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28427-4AFF-4A57-A633-35146F8E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评审与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3CECB-E92C-47BF-8C6B-37924DD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观看重点｜规范、流程和 Demo 进入团队评审，而不是停留在个人设计文件。</a:t>
            </a:r>
          </a:p>
        </p:txBody>
      </p:sp>
    </p:spTree>
    <p:extLst>
      <p:ext uri="{BB962C8B-B14F-4D97-AF65-F5344CB8AC3E}">
        <p14:creationId xmlns:p14="http://schemas.microsoft.com/office/powerpoint/2010/main" val="16354861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A2BDB-8000-4878-A860-2729B35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3B300-CC4F-4696-840D-1F8AA2B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34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46818-1B2F-4EEF-A3F3-E09BABA8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EF30F-DA0D-4B99-855A-EFE764CE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规范只有进入评审和培训流程才产生价值。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95ED4-0C9B-4F9D-B74A-D5416350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Miki 管理 2 名设计师，并面向 15 人产品部门组织 40+ 场用户体验培训。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34cc6063b4cf6"/>
          <a:stretch xmlns:a="http://schemas.openxmlformats.org/drawingml/2006/main"/>
        </p:blipFill>
        <p:spPr>
          <a:xfrm xmlns:a="http://schemas.openxmlformats.org/drawingml/2006/main">
            <a:off x="609600" y="2321556"/>
            <a:ext cx="5238750" cy="2691139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1ABDE-5699-4239-99E9-83FD8F20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培训与知识分享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3AE4-573D-493B-9ED9-1AF49735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观看重点｜培训覆盖用户研究、需求分析、交互、视觉、可用性测试和设计验收。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19deedfb14c67"/>
          <a:stretch xmlns:a="http://schemas.openxmlformats.org/drawingml/2006/main"/>
        </p:blipFill>
        <p:spPr>
          <a:xfrm xmlns:a="http://schemas.openxmlformats.org/drawingml/2006/main">
            <a:off x="6191250" y="2504886"/>
            <a:ext cx="5238750" cy="2324478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9CCC8-1328-4F08-AA87-8BD41CA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团队能力建设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FA5D2-8A32-4688-9CC5-BFFC709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观看重点｜规范、评审和培训把个人经验转成团队可执行的工作标准。</a:t>
            </a:r>
          </a:p>
        </p:txBody>
      </p:sp>
    </p:spTree>
    <p:extLst>
      <p:ext uri="{BB962C8B-B14F-4D97-AF65-F5344CB8AC3E}">
        <p14:creationId xmlns:p14="http://schemas.microsoft.com/office/powerpoint/2010/main" val="14989300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56835-1FC9-41C8-BFE4-80F72479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08 / CASE 04 · 5G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D846E-1C3E-47FC-AA86-86DDAA9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35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CFCB-FCCC-4C3F-90AB-DB4F08B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B6B1B-CE14-4381-871F-EAEF15F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3 项行业奖项属于项目与团队成果。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CA376-59C0-44F1-B901-E7946F5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Miki 主导核心体验、规范、评审和培训；奖项和 200+ 方案 / Demo 不表述为个人独立完成。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2650F-934D-485E-BD5C-996CD090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TEAM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DE316-3C0C-4498-B984-991E59A2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相关 5G 消息项目获得 3 项行业奖项，其中包含绽放杯奖项。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6F7E3-CC4C-48B8-BB18-03D39378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B3E7E-BD13-47F3-A8C1-93124F47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主导 4 个核心项目的体验设计与视觉重构。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B9595-1DD7-419B-9D82-7A3F43C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CB702-DE7D-4727-A81F-9B7FC830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40+ 场培训推动方法进入日常产品流程。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55EE-35C6-43AE-9BF2-42CE4E1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83389-1259-4640-B552-8463355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200+ 方案与 Demo 属于团队共同产出。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9e5e58b5e435f"/>
          <a:stretch xmlns:a="http://schemas.openxmlformats.org/drawingml/2006/main"/>
        </p:blipFill>
        <p:spPr>
          <a:xfrm xmlns:a="http://schemas.openxmlformats.org/drawingml/2006/main">
            <a:off x="5157171" y="2076450"/>
            <a:ext cx="6335358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17981-DF11-455C-8DA4-229C68C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观看重点｜公开材料证明项目获得行业认可；具体奖项等级存在资料冲突，因此正文不写等级。</a:t>
            </a:r>
          </a:p>
        </p:txBody>
      </p:sp>
    </p:spTree>
    <p:extLst>
      <p:ext uri="{BB962C8B-B14F-4D97-AF65-F5344CB8AC3E}">
        <p14:creationId xmlns:p14="http://schemas.microsoft.com/office/powerpoint/2010/main" val="10100579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786C8-E6F7-418B-AE6C-E59136C5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09 / CASE 05 ·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D6C52-468F-4261-98A4-965DF63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36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FA8A3-5278-4873-8F8A-D7AAD6C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BE990-3DC0-4B31-882B-D4BA50A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GPS：1 个月内完成移动端定位与预警重构。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7E479-AF71-483E-95D6-7C926BB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设计负责人 · 已上线 · 现场巡检 / 后台调度 / 管理层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456EA-24EE-4C6C-B2B5-A228D81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06903-6710-4329-AC31-EB8439C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在定位延迟和大规模载体管理约束下，收窄默认视图，并通过按需精准请求、围栏、告警和轨迹回溯补齐关键任务。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48489-CF58-4781-944B-AE06F6B6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C173B-1044-4B9E-9A90-D7744E90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设计负责人 / 主设计师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B37EB-026C-4F13-8173-B4ED3B9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B29E1-6946-4FD5-8822-66F8CE0B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约 1 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E609B-FC01-4F15-B553-3FDF22A9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6DDD9-E921-4705-A71E-2635E396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载体管理移动端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5B67C-AFE8-4211-B71C-6A75BEE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FE0BA-FF57-4720-A145-A40A626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已上线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ed4779b654075"/>
          <a:srcRect xmlns:a="http://schemas.openxmlformats.org/drawingml/2006/main" l="152" t="0" r="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076450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B06AF-1D97-4D3E-9299-1238FEEA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观看重点｜移动端界面服务定位、告警、辖区和历史轨迹，不是单纯地图视觉。</a:t>
            </a:r>
          </a:p>
        </p:txBody>
      </p:sp>
    </p:spTree>
    <p:extLst>
      <p:ext uri="{BB962C8B-B14F-4D97-AF65-F5344CB8AC3E}">
        <p14:creationId xmlns:p14="http://schemas.microsoft.com/office/powerpoint/2010/main" val="169838310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5B402-AE10-4437-9EE0-1E0932E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09 / CASE 05 ·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4520B-085E-4EEC-815C-2079222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37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A48BA-2ED9-4229-8A27-6BF765D0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174DF-1776-4A48-A148-1A273CEF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精准定位需要 12—15 秒，因此默认视图必须克制。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687AF-248D-45CC-8C1E-CED2032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否决启动即加载全部载体，改为默认概览 + 按需触发精准定位，把等待成本留给真正需要排查的任务。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ed13a064c4268"/>
          <a:stretch xmlns:a="http://schemas.openxmlformats.org/drawingml/2006/main"/>
        </p:blipFill>
        <p:spPr>
          <a:xfrm xmlns:a="http://schemas.openxmlformats.org/drawingml/2006/main">
            <a:off x="2503163" y="2095500"/>
            <a:ext cx="1451624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DB96C-FE4E-4F72-907B-4FB56A8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默认概览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90A18-BA7E-42D5-ACD6-25A78CF8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观看重点｜优先显示正在运行和异常载体，让用户先获得可操作的全局状态。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c78b997e44eb6"/>
          <a:stretch xmlns:a="http://schemas.openxmlformats.org/drawingml/2006/main"/>
        </p:blipFill>
        <p:spPr>
          <a:xfrm xmlns:a="http://schemas.openxmlformats.org/drawingml/2006/main">
            <a:off x="8084813" y="2095500"/>
            <a:ext cx="1451624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4661C-08A6-41FC-A0AE-1B0F667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按需精准请求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8C25B-3BEA-41A9-A8B8-A2F75011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观看重点｜用户排查特定载体时再触发精准定位，避免全量加载造成长时间等待。</a:t>
            </a:r>
          </a:p>
        </p:txBody>
      </p:sp>
    </p:spTree>
    <p:extLst>
      <p:ext uri="{BB962C8B-B14F-4D97-AF65-F5344CB8AC3E}">
        <p14:creationId xmlns:p14="http://schemas.microsoft.com/office/powerpoint/2010/main" val="1450080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7F20C-8A19-4962-87E0-AAFEB49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09 / CASE 05 ·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40200-456A-4596-8D43-EF967BA4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38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33A8-AF23-4778-BCB3-A96D1096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6B3E9-8053-4BF5-837C-11C3D7F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围栏、告警和轨迹回溯覆盖运行与事故场景。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41483-1F4D-4786-8BEB-680E5D3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地图界面背后是状态、异常、辖区和追责链路。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ca05a12d942f0"/>
          <a:stretch xmlns:a="http://schemas.openxmlformats.org/drawingml/2006/main"/>
        </p:blipFill>
        <p:spPr>
          <a:xfrm xmlns:a="http://schemas.openxmlformats.org/drawingml/2006/main">
            <a:off x="1184209" y="2038350"/>
            <a:ext cx="1803533" cy="3905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07272-B204-4E4E-AC6D-7B1E2F5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2337B-8CBB-48CD-84FD-49972AE1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104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项目 / 地区折叠与地图状态帮助调度理解辖区。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6602357a3422e"/>
          <a:stretch xmlns:a="http://schemas.openxmlformats.org/drawingml/2006/main"/>
        </p:blipFill>
        <p:spPr>
          <a:xfrm xmlns:a="http://schemas.openxmlformats.org/drawingml/2006/main">
            <a:off x="4898959" y="2038350"/>
            <a:ext cx="1803533" cy="3905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3D2F-BF98-43CC-A8F3-C236F828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3C7F2-AD1D-411E-B0CA-E5AE495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04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按紧急程度和时间过滤消息，减少信息过载。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735d944694b3f"/>
          <a:stretch xmlns:a="http://schemas.openxmlformats.org/drawingml/2006/main"/>
        </p:blipFill>
        <p:spPr>
          <a:xfrm xmlns:a="http://schemas.openxmlformats.org/drawingml/2006/main">
            <a:off x="8613709" y="2038350"/>
            <a:ext cx="1803533" cy="3905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F86A7-A8C2-4916-BE9D-366DB46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669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756E5-F68D-4B38-83A8-7ACE576D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95600"/>
            <a:ext cx="104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历史路径回放为事故复盘和责任追溯提供依据。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14178205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E770B-8E75-461B-A4C4-3C4DC594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09 / CASE 05 ·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7B06D-595B-4C25-BD35-C17EAB63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39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AB963-5C6D-47E0-B8D6-BF4E7AC3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98C68-E188-4F4C-B616-7EAD21A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产品上线，但行为改变需要时间。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62A1E-849E-45AB-BA37-5C4AD957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上线初期，部分业务员仍习惯电话确认运载细节；工具可以减少信息不确定，却不能瞬间改写协作习惯。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1E96D-3E68-4D17-8457-338C2AD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REFLECTION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538E5-B757-4666-9116-B7B0099A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这个项目最重要的结果不是冲突的百分比，而是一次清楚的技术取舍。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3FC3A-767F-453D-8415-E63A24E6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A8688-7CCA-4041-BC32-9289E7F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12—15 秒定位延迟来自产品与开发协同测试。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4C6D5-D40C-426D-B3FB-1373345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EC146-A934-403D-AF33-93A47ED6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默认概览保证主任务流畅度。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6AB3B-E7EA-4C7C-877B-86999613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9EBFF-93A5-49E2-9656-93A9BB9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精准定位只在用户明确需要时发生。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8a0d7dbc040b2"/>
          <a:stretch xmlns:a="http://schemas.openxmlformats.org/drawingml/2006/main"/>
        </p:blipFill>
        <p:spPr>
          <a:xfrm xmlns:a="http://schemas.openxmlformats.org/drawingml/2006/main">
            <a:off x="6778466" y="2076450"/>
            <a:ext cx="3092768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66A69-F620-4AE4-B325-3D7CF0F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观看重点｜界面展示移动端状态和告警；网站与旧版冲突的结果百分比未进入作品集。</a:t>
            </a:r>
          </a:p>
        </p:txBody>
      </p:sp>
    </p:spTree>
    <p:extLst>
      <p:ext uri="{BB962C8B-B14F-4D97-AF65-F5344CB8AC3E}">
        <p14:creationId xmlns:p14="http://schemas.microsoft.com/office/powerpoint/2010/main" val="14534574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A1E6A-A16C-4BBE-9A82-0F713F3C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10 / CASE 06 · FACTORY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A1B89-FE2F-417D-9598-222D28F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40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7B19C-3037-4C0B-8BA9-84E6BB8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C725F-739E-49C7-88D9-602787AE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工厂大屏：管理者需要的是异常决策台。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AD9A4-DB91-496F-BF49-93CFF4C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约 2 个月 · 设计负责人 · 两个大屏 UI / 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6C783-049D-4CE1-A5F2-D8A5744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PROJECT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4A016-A464-4E9B-BFDF-7DD3F952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将分散的产能、设备、质量和异常信息整理成管理者可以快速判断、下钻和追溯的两个大屏。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29CC4-9D44-454F-93EB-E4844B0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使用者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AA392-1336-47FE-AF15-D3934E4C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管理人员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5CC0F-1714-4C19-8F16-60A156E3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我的角色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399AB-6F63-403E-9EE0-0FA8801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设计负责人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151E5-239D-4EAD-B978-0704A95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3FD8B-EA9F-4FD1-8C88-0671BE0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两个数据大屏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C9CB4-C224-48E1-852F-3E7D2059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79DFC-EE55-4CCC-8C3E-A4A0F015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数据结构 / UI / UX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afea58f5f4c0c"/>
          <a:srcRect xmlns:a="http://schemas.openxmlformats.org/drawingml/2006/main" l="92" t="0" r="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076450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D20C7-5D86-4AA8-9546-A9E96CE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观看重点｜最终大屏证明工业数据可视化和视觉完成度；结果页不使用缺少口径的满意度数据。</a:t>
            </a:r>
          </a:p>
        </p:txBody>
      </p:sp>
    </p:spTree>
    <p:extLst>
      <p:ext uri="{BB962C8B-B14F-4D97-AF65-F5344CB8AC3E}">
        <p14:creationId xmlns:p14="http://schemas.microsoft.com/office/powerpoint/2010/main" val="2340528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77A5E-3322-40C5-8820-3EFC716E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10 / CASE 06 · FACTORY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0D82-A54F-440A-8439-552496A8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41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0FB27-6AE3-4F73-90A9-70B64041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EAAD-5B6D-44C7-BA8D-2F691B3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数据先降噪，再按全局—趋势—异常分级。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009C-4139-4622-B7FC-D676266B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用户不关心图表数量；他们需要看见产线瓶颈、趋势变化和故障来源。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833c930dd4da2"/>
          <a:stretch xmlns:a="http://schemas.openxmlformats.org/drawingml/2006/main"/>
        </p:blipFill>
        <p:spPr>
          <a:xfrm xmlns:a="http://schemas.openxmlformats.org/drawingml/2006/main">
            <a:off x="961440" y="2095500"/>
            <a:ext cx="453507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09D06-0A85-463D-9FCF-CE895D2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问题与数据结构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C8653-B57D-4D5F-A786-6FDBD056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观看重点｜把生产、设备、质量和异常信息连接到管理决策，而不是罗列指标。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ae64a6b0f45c1"/>
          <a:stretch xmlns:a="http://schemas.openxmlformats.org/drawingml/2006/main"/>
        </p:blipFill>
        <p:spPr>
          <a:xfrm xmlns:a="http://schemas.openxmlformats.org/drawingml/2006/main">
            <a:off x="6191250" y="2104183"/>
            <a:ext cx="5238750" cy="3125884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334D9-86B1-4AB8-B7F3-F621F1C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用户信息需求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BE79B-615F-42CC-B448-86CFDD70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观看重点｜管理、生产、维护和质检对全局、趋势、告警和追溯的需求不同。</a:t>
            </a:r>
          </a:p>
        </p:txBody>
      </p:sp>
    </p:spTree>
    <p:extLst>
      <p:ext uri="{BB962C8B-B14F-4D97-AF65-F5344CB8AC3E}">
        <p14:creationId xmlns:p14="http://schemas.microsoft.com/office/powerpoint/2010/main" val="6861467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4AF6B-5FA0-4593-AD21-7872EEC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10 / CASE 06 · FACTORY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84C34-B3C5-4DDB-9179-E4EFC9D1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42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1AB4D-676D-4872-B05F-DC4B9E09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6290D-D2F6-4E22-A61D-662FFDE0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两个大屏完成 UI 与 UX 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5FE96-2773-4585-9C32-84061DC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状态色、阈值和信息层级帮助管理者快速识别异常；没有原始样本支持的满意度与运营指标不展示。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a42db3d134a6c"/>
          <a:stretch xmlns:a="http://schemas.openxmlformats.org/drawingml/2006/main"/>
        </p:blipFill>
        <p:spPr>
          <a:xfrm xmlns:a="http://schemas.openxmlformats.org/drawingml/2006/main">
            <a:off x="1133475" y="2095500"/>
            <a:ext cx="41910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5F1A4-E2FC-4C2D-92D0-69D716D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生产与设备视图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3DA5-F6AE-4543-9027-814766F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观看重点｜全局状态、趋势和设备健康度被组织在同一决策视野。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a12bc415840af"/>
          <a:stretch xmlns:a="http://schemas.openxmlformats.org/drawingml/2006/main"/>
        </p:blipFill>
        <p:spPr>
          <a:xfrm xmlns:a="http://schemas.openxmlformats.org/drawingml/2006/main">
            <a:off x="6715125" y="2095500"/>
            <a:ext cx="41910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8448A-1F81-427F-9CEE-4A67C69B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质量与异常视图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0719E-C841-41DB-B30F-86F2C4B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观看重点｜异常通过状态色和阈值进入高优区域，并保留下钻与追溯入口。</a:t>
            </a:r>
          </a:p>
        </p:txBody>
      </p:sp>
    </p:spTree>
    <p:extLst>
      <p:ext uri="{BB962C8B-B14F-4D97-AF65-F5344CB8AC3E}">
        <p14:creationId xmlns:p14="http://schemas.microsoft.com/office/powerpoint/2010/main" val="20849041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680A0-8C5F-4BCA-A9AC-F6918B8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11 / AI-ASSISTED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C73B-0DBF-46F4-BEEC-5E0B7DD2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43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4305F-9207-4C7E-A01D-6E7E4601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050FF-D6BB-479A-86A8-23DE95B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AI 工作流从一句模糊需求开始。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67AFE-AA5F-4239-9D11-611EEBA1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“希望首页能看到所有设备和检测情况”不是设计任务；先要确认谁看、看什么、出现异常后做什么。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23e818d1b4f91"/>
          <a:stretch xmlns:a="http://schemas.openxmlformats.org/drawingml/2006/main"/>
        </p:blipFill>
        <p:spPr>
          <a:xfrm xmlns:a="http://schemas.openxmlformats.org/drawingml/2006/main">
            <a:off x="3324225" y="2038350"/>
            <a:ext cx="5543550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944F-5FBE-4A53-84BA-7620C6C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观看重点｜AI 帮助整理信息缺口；设计师把需求重写为业务问题、确认项和成功标准。</a:t>
            </a:r>
          </a:p>
        </p:txBody>
      </p:sp>
    </p:spTree>
    <p:extLst>
      <p:ext uri="{BB962C8B-B14F-4D97-AF65-F5344CB8AC3E}">
        <p14:creationId xmlns:p14="http://schemas.microsoft.com/office/powerpoint/2010/main" val="96472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906F1-7831-41C2-A2C8-A64B7C06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11 / AI-ASSISTED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8A0FF-FFB8-4A64-BB23-D5A4CA2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44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4235-9192-4E6E-A2C2-47CC72A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1396D-C210-4275-A4DE-2E838F4F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AI 初稿需要人工补齐异常、权限和动作优先级。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2195A-0018-4F50-9A34-B314194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原始草稿堆叠 KPI、只覆盖正常状态；人工精修把异常摘要、处理入口、离线状态和权限边界前置。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c7932e20c428c"/>
          <a:stretch xmlns:a="http://schemas.openxmlformats.org/drawingml/2006/main"/>
        </p:blipFill>
        <p:spPr>
          <a:xfrm xmlns:a="http://schemas.openxmlformats.org/drawingml/2006/main">
            <a:off x="3324225" y="2038350"/>
            <a:ext cx="5543550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3F01-4623-47A3-ACD9-B13F2B98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观看重点｜左侧证明生成速度，右侧证明产品判断：异常优先级、状态、权限和动作入口由设计师负责。</a:t>
            </a:r>
          </a:p>
        </p:txBody>
      </p:sp>
    </p:spTree>
    <p:extLst>
      <p:ext uri="{BB962C8B-B14F-4D97-AF65-F5344CB8AC3E}">
        <p14:creationId xmlns:p14="http://schemas.microsoft.com/office/powerpoint/2010/main" val="26265955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8086D-53F2-469B-B52D-10C4AA28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11 / AI-ASSISTED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5827D-295A-4FE3-AF9B-A548A11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45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CCBB3-9B61-43FE-93C3-E113D73A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D65BF-4D3F-418E-96E7-754F4C9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上下文、风险清单和 QA 把问题提前到开发前。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61A0D-FCCD-4207-ADF3-E5BB1378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本案例是基于既有工业 AI 场景抽象的方法演示，不代表原项目当时使用生成式 AI 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A700B-0E7F-44DF-A214-75C4ED9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HUMAN 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50C7E-92AA-4442-9E7A-5228C61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先把目标、状态、权限和术语写成约束，再让 AI 辅助生成与检查。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B7356-5D74-4CC1-BE56-EE79D9A0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5EDD4-73B9-439C-9C68-8C46620A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接口、数据、设备离线、算法置信度和权限风险在开发前检查。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5125B-D853-4465-BF8A-5E824822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E9887-4604-4FE4-B943-67E1A73A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AI 辅助方案生成、规则对照和 QA。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C1707-43E6-48A4-AB53-BF4BA89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136EC-291E-4626-AE1E-42AEA0E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设计师负责问题定义、优先级、风险判断和验收。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d2a7d58404a98"/>
          <a:stretch xmlns:a="http://schemas.openxmlformats.org/drawingml/2006/main"/>
        </p:blipFill>
        <p:spPr>
          <a:xfrm xmlns:a="http://schemas.openxmlformats.org/drawingml/2006/main">
            <a:off x="5595938" y="2076450"/>
            <a:ext cx="5457825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4DCF2-7CA2-4471-94AA-A7121936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483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观看重点｜观看重点：风险被整理为可检查的交付清单；AI 提高整理与检查速度，关键判断仍由设计师负责。</a:t>
            </a:r>
          </a:p>
        </p:txBody>
      </p:sp>
    </p:spTree>
    <p:extLst>
      <p:ext uri="{BB962C8B-B14F-4D97-AF65-F5344CB8AC3E}">
        <p14:creationId xmlns:p14="http://schemas.microsoft.com/office/powerpoint/2010/main" val="12647090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A3D7B-CEF5-40F5-BE3E-40336E6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12 / SELECTED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AABFE-F625-443F-B799-758A51A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46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3C64C-E7A7-4DD9-ACDB-5BD8858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6D209-3EA4-4C0A-B9D7-53078E65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早期经历补足 12 年职业积累。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EF463-8C94-4B4E-907F-4E4256F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这些项目只有简历级事实，没有足够公开截图，因此保留为职业档案，不包装成深度案例。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2FDDF-4554-4C5C-8AE8-0EC5086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2014—2015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001E-4A18-4A4A-8321-D436F7F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OA 办公系统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0174F-1C18-4A52-9744-6782538F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企业软件 · UI 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867DF-2B95-4114-9DC0-A6051A8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审批流程、页面设计、切图标注与开发验收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B534F-441A-4FF1-BCE6-AE691761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3CEFD-EEDD-4983-BCC1-4F641FC7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9673F"/>
                </a:solidFill>
                <a:latin typeface="Arial Unicode MS"/>
                <a:ea typeface="Arial Unicode MS"/>
                <a:cs typeface="Arial Unicode MS"/>
              </a:rPr>
              <a:t>2014—2015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4DF19-4598-449D-BBEC-9AA05B16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儿童乐园门店管理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E01B8-03D5-4FB0-A118-7CF6958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门店系统 · UI 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B0035-14BF-443D-885A-256AA713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会员、门店管理与运营数据模块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1FD13-0153-4E86-AE23-C788F5A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DAD57-97A8-4B6B-9865-6135473D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2015—2017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E79A1-511B-4F37-8A8C-BF9B42DF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冷库监控系统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B71F4-7B66-4DD0-89EE-53DFA430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IoT · Web / 移动端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06A64-13EA-42FF-9C92-F81D77A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957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温度、设备状态、异常告警与数据展示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9910E-69D3-438D-8D9D-8B90077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91A7B-A2EE-4B49-BCFF-B87C5317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2017—2018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89D28-3104-4EF7-833C-087AF47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57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罗西尼电商视觉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F0BF2-9AD0-477B-A11C-3A161CFF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C 端 · 视觉运营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40ACA-1C92-41D1-9092-354BA83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活动页面、Banner、详情页与品牌视觉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CA949-B2CD-4B7D-9AE9-A3144315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677EB-BD67-4112-AD38-7C17ECB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61"/>
                </a:solidFill>
                <a:latin typeface="Arial Unicode MS"/>
                <a:ea typeface="Arial Unicode MS"/>
                <a:cs typeface="Arial Unicode MS"/>
              </a:rPr>
              <a:t>2019—2020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E2F35-8B61-4EB1-AAA9-21DC190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3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智能储物柜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64FC1-E759-4C28-85B0-3B4F8E67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6D68"/>
                </a:solidFill>
                <a:latin typeface="Arial Unicode MS"/>
                <a:ea typeface="Arial Unicode MS"/>
                <a:cs typeface="Arial Unicode MS"/>
              </a:rPr>
              <a:t>智能硬件 · UI/UX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A4AB3D-DF6B-405E-BA69-9F5408D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578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51716"/>
                </a:solidFill>
                <a:latin typeface="Arial Unicode MS"/>
                <a:ea typeface="Arial Unicode MS"/>
                <a:cs typeface="Arial Unicode MS"/>
              </a:rPr>
              <a:t>柜机端投递取货与后台管理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53BF2-ACB7-4984-BB6D-10693AC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C6B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8393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7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69FCC-1E5D-42C9-AD12-D7C0D4B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rPr>
              <a:t>13 /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93C5F-F2BD-403C-8EFC-6D07DAD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00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rPr>
              <a:t>47 / 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7F82C-07D2-4EE9-AD7E-886B80F4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rPr>
              <a:t>杨蜜萁 Miki · Product Designer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4BB1-8DE5-4F84-B804-C8AFD3AF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B71BD-358C-4BB8-A7D8-2057B41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联系 Miki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D5E9C-3C90-4E5B-8C0B-A5C2B10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BDC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DC4BE"/>
                </a:solidFill>
                <a:latin typeface="Arial Unicode MS"/>
                <a:ea typeface="Arial Unicode MS"/>
                <a:cs typeface="Arial Unicode MS"/>
              </a:rPr>
              <a:t>高级产品设计师 · 复杂 B 端 · 工业 HMI · 智能硬件 · AI 产品体验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BF02C-A401-4BCB-BAE0-88B4B701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1D25B-75C7-4180-998B-99FE6028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rPr>
              <a:t>电话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8AEAD-403A-4259-B04F-7C644BEE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13622962831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B3C65-D50D-4636-8749-7B3C2D17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rPr>
              <a:t>邮箱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730EA-BB45-48FB-806D-DE8F40F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miqi723@163.com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404B-9C3D-40F7-B005-C03A51B7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rPr>
              <a:t>网站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73A64-2986-469C-847E-F55876F6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mikistudio.com.cn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C3691-5A3E-4156-9B26-763E1B4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rPr>
              <a:t>所在 / 意向城市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144AC-9D47-40B2-95C7-9EB7B1C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深圳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1B333-AE2C-4E7B-94E8-3664125A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98A098"/>
                </a:solidFill>
                <a:latin typeface="Arial Unicode MS"/>
                <a:ea typeface="Arial Unicode MS"/>
                <a:cs typeface="Arial Unicode MS"/>
              </a:rPr>
              <a:t>求职方向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0D6A3-F962-43BD-B303-4B483F38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高级产品设计师 / 高级 UIUX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03bdcc7bb479d"/>
          <a:stretch xmlns:a="http://schemas.openxmlformats.org/drawingml/2006/main"/>
        </p:blipFill>
        <p:spPr>
          <a:xfrm xmlns:a="http://schemas.openxmlformats.org/drawingml/2006/main">
            <a:off x="9334500" y="33147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EDF04-7498-497E-85AB-1911E1C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EB5AF"/>
                </a:solidFill>
                <a:latin typeface="Arial Unicode MS"/>
                <a:ea typeface="Arial Unicode MS"/>
                <a:cs typeface="Arial Unicode MS"/>
              </a:rPr>
              <a:t>扫码查看在线作品集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132E2-3703-45AC-A5DD-4E87EC79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8F979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8F9790"/>
                </a:solidFill>
                <a:latin typeface="Arial Unicode MS"/>
                <a:ea typeface="Arial Unicode MS"/>
                <a:cs typeface="Arial Unicode MS"/>
              </a:rPr>
              <a:t>本作品集使用脱敏项目材料；待确认信息未进入正文。</a:t>
            </a:r>
          </a:p>
        </p:txBody>
      </p:sp>
    </p:spTree>
    <p:extLst>
      <p:ext uri="{BB962C8B-B14F-4D97-AF65-F5344CB8AC3E}">
        <p14:creationId xmlns:p14="http://schemas.microsoft.com/office/powerpoint/2010/main" val="1098065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2026-07-11T05:47:48.1960000Z</dcterms:created>
  <dcterms:modified xsi:type="dcterms:W3CDTF">2026-07-11T05:47:48.1960000Z</dcterms:modified>
</coreProperties>
</file>